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Space Grotesk" pitchFamily="34" charset="0"/>
      <p:regular r:id="rId43"/>
      <p:bold r:id="rId44"/>
    </p:embeddedFont>
    <p:embeddedFont>
      <p:font typeface="JetBrains Mono" panose="02000009000000000000" pitchFamily="49" charset="0"/>
      <p:regular r:id="rId45"/>
      <p:bold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font" Target="fonts/font1.fntdata"/><Relationship Id="rId44" Type="http://schemas.openxmlformats.org/officeDocument/2006/relationships/font" Target="fonts/font2.fntdata"/><Relationship Id="rId45" Type="http://schemas.openxmlformats.org/officeDocument/2006/relationships/font" Target="fonts/font3.fntdata"/><Relationship Id="rId4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hours: ten features, a 10-minute break after feature 5, Q&amp;A at the end. Encourage people to open a browser devtools tab and try things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plan. Each feature: what problem it solves, how it works, one real-world pattern. Timings are a guide; the break is the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the platform caught up. Ask the room which of these they still use a library or preprocessor for. Mention Baseline (web.dev/baseline) as the yardstick for "safe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for this section. Key difference from Sass: custom properties exist at runtime and follow the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override --space on .compact and show only that card changes. Then set a variable from JS with element.style.setProperty('--brand',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@property the browser can't interpolate --angle, so the animation would jump. Show it live with and without the @property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Natural follow-up to custom properties: two preprocessor features now native. Most of the audience will know nesting from Sass; focus on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show range syntax in the media query (width &gt; 600px), which is itself a modern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 behaviour means .sidebar p gets the specificity of #main p. Surprising if you migrate from Sass, which expands to separate selectors.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Newest feature in the talk: Baseline newly available since Firefox 155 (Sept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(value - start) / (end - start), clamped. Resize the window in a demo to show the hero scaling smoothly. Compare with the equivalent clamp() formula people usually copy from a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into sections 07 and 09: progress() plus container units plus color-mix. A good teaser for later. Keep fallbacks for older browsers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Probably the feature with the most 'aha' moments. Plan two live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example aloud as a sentence: 'a card that has an image'. Point out the + sibling combinator inside :has() which gives a 'previous sibling'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 signup form that dims the submit button until fields are valid, with zero JS. Note: still validate on the server; this is UX, not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Baseline newly available since January 2026 (Firefox 147). Newer pieces like anchor-size() may still have interop rough edges. The break follows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names are dashed idents like custom properties. The positioned element must be absolutely or fixed positioned. anchor() works inside calc()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scroll the tooltip trigger near the top of the viewport and watch it flip below. This replaces the whole getBoundingClientRect-on-scroll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 break. Good moment to share the slide link so people can follow the code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first section after the break. Baseline across engines since early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a card component that styles its own images but must not touch images inside user-supplied rich content (the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Proximity example: a .dark section inside a .light page inside a .dark modal. Without @scope the last rule in source order wins; with @scope the closest ancestor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min. Have a color picker in devtools ready to show oklch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HSL: hsl(60 100% 50%) yellow and hsl(240 100% 50%) blue have the same 'lightness' but look wildly different. In oklch, same L really looks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light-dark() follows the used color-scheme, so setting color-scheme: dark on one section switches just that section. Mixing in oklch avoids the muddy grey middle you get mixing in sRGB.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short and sweet. Before the talk: check current browser support on caniuse.com and say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type into a textarea and watch it grow until max-block-size, then scroll. lh units = line heights, ch = width of the 0 character. Support status: [check caniuse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min. Strong demo: the same card in a sidebar and in the main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 card / inline-size is shorthand for container-name plus container-type. Drag the sidebar width in the demo to show the card switching layout independently of the viewport.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complement each other. Gotcha: an inline-size container can't size itself from its content's width, so set the container on a wrapper whose width comes from the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Last feature before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auto-fit vs auto-fill: auto-fit collapses empty tracks so items stretch; auto-fill keeps them. Show both quickly with few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three cards with different title lengths. Without subgrid the buttons sit at different heights; with subgrid they align. Combine with container queries from section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pass, one sentence each. Baseline statuses as of late 2026: verify field-sizing and any 'newly available' feature against your own users' browsers. Suggest people pick one feature to try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links. Mention that Baseline 'newly available' means it works in the latest versions of all major browsers; 'widely available' means 30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minutes for Q&amp;A. If quiet, ask: which feature would you adopt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C1A29"/>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C1A29"/>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C1A29"/>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C1A29"/>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developer.mozilla.org/en-US/docs/Web/CSS" TargetMode="External"/><Relationship Id="rId2" Type="http://schemas.openxmlformats.org/officeDocument/2006/relationships/hyperlink" Target="https://web.dev/baseline" TargetMode="External"/><Relationship Id="rId3" Type="http://schemas.openxmlformats.org/officeDocument/2006/relationships/hyperlink" Target="https://caniuse.com" TargetMode="External"/><Relationship Id="rId4" Type="http://schemas.openxmlformats.org/officeDocument/2006/relationships/hyperlink" Target="https://web-platform-dx.github.io/web-features-explorer/" TargetMode="External"/><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299200" y="609600"/>
            <a:ext cx="5080000" cy="5080000"/>
          </a:xfrm>
          <a:prstGeom prst="roundRect">
            <a:avLst>
              <a:gd name="adj" fmla="val 32000"/>
            </a:avLst>
          </a:prstGeom>
          <a:gradFill rotWithShape="1">
            <a:gsLst>
              <a:gs pos="0">
                <a:srgbClr val="FF9A3C">
                  <a:alpha val="70000"/>
                </a:srgbClr>
              </a:gs>
              <a:gs pos="45000">
                <a:srgbClr val="5B4CF0">
                  <a:alpha val="70000"/>
                </a:srgbClr>
              </a:gs>
              <a:gs pos="72000">
                <a:srgbClr val="14121F">
                  <a:alpha val="70000"/>
                </a:srgbClr>
              </a:gs>
            </a:gsLst>
            <a:path path="circle">
              <a:fillToRect l="40000" t="40000" r="60000" b="60000"/>
            </a:path>
          </a:gradFill>
          <a:ln/>
        </p:spPr>
      </p:sp>
      <p:sp>
        <p:nvSpPr>
          <p:cNvPr id="3" name="Text 1"/>
          <p:cNvSpPr/>
          <p:nvPr/>
        </p:nvSpPr>
        <p:spPr>
          <a:xfrm>
            <a:off x="812800" y="305960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B86B"/>
                </a:solidFill>
                <a:latin typeface="JetBrains Mono" pitchFamily="49" charset="0"/>
                <a:ea typeface="JetBrains Mono" pitchFamily="49" charset="-122"/>
                <a:cs typeface="JetBrains Mono" pitchFamily="49" charset="-120"/>
              </a:rPr>
              <a:t>@layer future {</a:t>
            </a:r>
            <a:endParaRPr lang="en-US" sz="1600" dirty="0"/>
          </a:p>
        </p:txBody>
      </p:sp>
      <p:sp>
        <p:nvSpPr>
          <p:cNvPr id="4" name="Text 2"/>
          <p:cNvSpPr/>
          <p:nvPr>
            <p:ph type="title"/>
          </p:nvPr>
        </p:nvSpPr>
        <p:spPr>
          <a:xfrm>
            <a:off x="812800" y="3598069"/>
            <a:ext cx="10883392" cy="1352550"/>
          </a:xfrm>
          <a:prstGeom prst="rect">
            <a:avLst/>
          </a:prstGeom>
          <a:noFill/>
          <a:ln/>
        </p:spPr>
        <p:txBody>
          <a:bodyPr wrap="square" lIns="0" tIns="0" rIns="0" bIns="0" rtlCol="0" anchor="t">
            <a:normAutofit/>
          </a:bodyPr>
          <a:lstStyle/>
          <a:p>
            <a:pPr algn="l" indent="0" marL="0">
              <a:lnSpc>
                <a:spcPts val="10450"/>
              </a:lnSpc>
              <a:buNone/>
            </a:pPr>
            <a:r>
              <a:rPr lang="en-US" sz="11000" b="1" i="0" spc="-300" kern="0" dirty="0">
                <a:solidFill>
                  <a:srgbClr val="ECE9F5"/>
                </a:solidFill>
                <a:latin typeface="Space Grotesk" pitchFamily="34" charset="0"/>
                <a:ea typeface="Space Grotesk" pitchFamily="34" charset="-122"/>
                <a:cs typeface="Space Grotesk" pitchFamily="34" charset="-120"/>
              </a:rPr>
              <a:t>Modern CSS</a:t>
            </a:r>
            <a:endParaRPr lang="en-US" sz="11000" dirty="0"/>
          </a:p>
        </p:txBody>
      </p:sp>
      <p:sp>
        <p:nvSpPr>
          <p:cNvPr id="5" name="Text 3"/>
          <p:cNvSpPr/>
          <p:nvPr/>
        </p:nvSpPr>
        <p:spPr>
          <a:xfrm>
            <a:off x="812800" y="5179219"/>
            <a:ext cx="83820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B4CC"/>
                </a:solidFill>
                <a:latin typeface="Space Grotesk" pitchFamily="34" charset="0"/>
                <a:ea typeface="Space Grotesk" pitchFamily="34" charset="-122"/>
                <a:cs typeface="Space Grotesk" pitchFamily="34" charset="-120"/>
              </a:rPr>
              <a:t>Ten features that change how we write stylesheets</a:t>
            </a:r>
            <a:endParaRPr lang="en-US" sz="2200" dirty="0"/>
          </a:p>
        </p:txBody>
      </p:sp>
      <p:sp>
        <p:nvSpPr>
          <p:cNvPr id="6" name="Text 4"/>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8BA6"/>
                </a:solidFill>
                <a:latin typeface="Space Grotesk" pitchFamily="34" charset="0"/>
                <a:ea typeface="Space Grotesk" pitchFamily="34" charset="-122"/>
                <a:cs typeface="Space Grotesk" pitchFamily="34" charset="-120"/>
              </a:rPr>
              <a:t>Marc · Faggruppe · Wednesday 28 October 2026, 13:00–15:00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Agenda: two hours, ten features</a:t>
            </a:r>
            <a:endParaRPr lang="en-US" sz="3200" dirty="0"/>
          </a:p>
        </p:txBody>
      </p:sp>
      <p:sp>
        <p:nvSpPr>
          <p:cNvPr id="3" name="Shape 1"/>
          <p:cNvSpPr/>
          <p:nvPr/>
        </p:nvSpPr>
        <p:spPr>
          <a:xfrm>
            <a:off x="815975" y="1588095"/>
            <a:ext cx="5124450" cy="3595291"/>
          </a:xfrm>
          <a:prstGeom prst="roundRect">
            <a:avLst>
              <a:gd name="adj" fmla="val 3444"/>
            </a:avLst>
          </a:prstGeom>
          <a:solidFill>
            <a:srgbClr val="FBFAF7"/>
          </a:solidFill>
          <a:ln w="6350">
            <a:solidFill>
              <a:srgbClr val="DCD7CC"/>
            </a:solidFill>
            <a:prstDash val="solid"/>
          </a:ln>
        </p:spPr>
      </p:sp>
      <p:sp>
        <p:nvSpPr>
          <p:cNvPr id="4" name="Text 2"/>
          <p:cNvSpPr/>
          <p:nvPr/>
        </p:nvSpPr>
        <p:spPr>
          <a:xfrm>
            <a:off x="1123950" y="1845270"/>
            <a:ext cx="46437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29"/>
                </a:solidFill>
                <a:latin typeface="Space Grotesk" pitchFamily="34" charset="0"/>
                <a:ea typeface="Space Grotesk" pitchFamily="34" charset="-122"/>
                <a:cs typeface="Space Grotesk" pitchFamily="34" charset="-120"/>
              </a:rPr>
              <a:t>Part 1</a:t>
            </a:r>
            <a:endParaRPr lang="en-US" sz="1800" dirty="0"/>
          </a:p>
        </p:txBody>
      </p:sp>
      <p:sp>
        <p:nvSpPr>
          <p:cNvPr id="5" name="Shape 3"/>
          <p:cNvSpPr/>
          <p:nvPr/>
        </p:nvSpPr>
        <p:spPr>
          <a:xfrm>
            <a:off x="1123950" y="2224286"/>
            <a:ext cx="4508500" cy="0"/>
          </a:xfrm>
          <a:prstGeom prst="line">
            <a:avLst/>
          </a:prstGeom>
          <a:noFill/>
          <a:ln w="6350">
            <a:solidFill>
              <a:srgbClr val="DCD7CC"/>
            </a:solidFill>
            <a:prstDash val="solid"/>
          </a:ln>
        </p:spPr>
      </p:sp>
      <p:sp>
        <p:nvSpPr>
          <p:cNvPr id="6" name="Text 4"/>
          <p:cNvSpPr/>
          <p:nvPr/>
        </p:nvSpPr>
        <p:spPr>
          <a:xfrm>
            <a:off x="1123950" y="23163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0:00</a:t>
            </a:r>
            <a:endParaRPr lang="en-US" sz="1400" dirty="0"/>
          </a:p>
        </p:txBody>
      </p:sp>
      <p:sp>
        <p:nvSpPr>
          <p:cNvPr id="7" name="Text 5"/>
          <p:cNvSpPr/>
          <p:nvPr/>
        </p:nvSpPr>
        <p:spPr>
          <a:xfrm>
            <a:off x="1936750" y="2316361"/>
            <a:ext cx="52125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Intro</a:t>
            </a:r>
            <a:endParaRPr lang="en-US" sz="1500" dirty="0"/>
          </a:p>
        </p:txBody>
      </p:sp>
      <p:sp>
        <p:nvSpPr>
          <p:cNvPr id="8" name="Shape 6"/>
          <p:cNvSpPr/>
          <p:nvPr/>
        </p:nvSpPr>
        <p:spPr>
          <a:xfrm>
            <a:off x="1123950" y="2675136"/>
            <a:ext cx="4508500" cy="0"/>
          </a:xfrm>
          <a:prstGeom prst="line">
            <a:avLst/>
          </a:prstGeom>
          <a:noFill/>
          <a:ln w="6350">
            <a:solidFill>
              <a:srgbClr val="DCD7CC"/>
            </a:solidFill>
            <a:prstDash val="solid"/>
          </a:ln>
        </p:spPr>
      </p:sp>
      <p:sp>
        <p:nvSpPr>
          <p:cNvPr id="9" name="Text 7"/>
          <p:cNvSpPr/>
          <p:nvPr/>
        </p:nvSpPr>
        <p:spPr>
          <a:xfrm>
            <a:off x="1123950" y="27672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0:08</a:t>
            </a:r>
            <a:endParaRPr lang="en-US" sz="1400" dirty="0"/>
          </a:p>
        </p:txBody>
      </p:sp>
      <p:sp>
        <p:nvSpPr>
          <p:cNvPr id="10" name="Text 8"/>
          <p:cNvSpPr/>
          <p:nvPr/>
        </p:nvSpPr>
        <p:spPr>
          <a:xfrm>
            <a:off x="1936750" y="2767211"/>
            <a:ext cx="235874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01 Custom properties</a:t>
            </a:r>
            <a:endParaRPr lang="en-US" sz="1500" dirty="0"/>
          </a:p>
        </p:txBody>
      </p:sp>
      <p:sp>
        <p:nvSpPr>
          <p:cNvPr id="11" name="Shape 9"/>
          <p:cNvSpPr/>
          <p:nvPr/>
        </p:nvSpPr>
        <p:spPr>
          <a:xfrm>
            <a:off x="1123950" y="3125986"/>
            <a:ext cx="4508500" cy="0"/>
          </a:xfrm>
          <a:prstGeom prst="line">
            <a:avLst/>
          </a:prstGeom>
          <a:noFill/>
          <a:ln w="6350">
            <a:solidFill>
              <a:srgbClr val="DCD7CC"/>
            </a:solidFill>
            <a:prstDash val="solid"/>
          </a:ln>
        </p:spPr>
      </p:sp>
      <p:sp>
        <p:nvSpPr>
          <p:cNvPr id="12" name="Text 10"/>
          <p:cNvSpPr/>
          <p:nvPr/>
        </p:nvSpPr>
        <p:spPr>
          <a:xfrm>
            <a:off x="1123950" y="32180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0:18</a:t>
            </a:r>
            <a:endParaRPr lang="en-US" sz="1400" dirty="0"/>
          </a:p>
        </p:txBody>
      </p:sp>
      <p:sp>
        <p:nvSpPr>
          <p:cNvPr id="13" name="Text 11"/>
          <p:cNvSpPr/>
          <p:nvPr/>
        </p:nvSpPr>
        <p:spPr>
          <a:xfrm>
            <a:off x="1936750" y="3218061"/>
            <a:ext cx="19342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02 Native nesting</a:t>
            </a:r>
            <a:endParaRPr lang="en-US" sz="1500" dirty="0"/>
          </a:p>
        </p:txBody>
      </p:sp>
      <p:sp>
        <p:nvSpPr>
          <p:cNvPr id="14" name="Shape 12"/>
          <p:cNvSpPr/>
          <p:nvPr/>
        </p:nvSpPr>
        <p:spPr>
          <a:xfrm>
            <a:off x="1123950" y="3576836"/>
            <a:ext cx="4508500" cy="0"/>
          </a:xfrm>
          <a:prstGeom prst="line">
            <a:avLst/>
          </a:prstGeom>
          <a:noFill/>
          <a:ln w="6350">
            <a:solidFill>
              <a:srgbClr val="DCD7CC"/>
            </a:solidFill>
            <a:prstDash val="solid"/>
          </a:ln>
        </p:spPr>
      </p:sp>
      <p:sp>
        <p:nvSpPr>
          <p:cNvPr id="15" name="Text 13"/>
          <p:cNvSpPr/>
          <p:nvPr/>
        </p:nvSpPr>
        <p:spPr>
          <a:xfrm>
            <a:off x="1123950" y="36689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0:25</a:t>
            </a:r>
            <a:endParaRPr lang="en-US" sz="1400" dirty="0"/>
          </a:p>
        </p:txBody>
      </p:sp>
      <p:sp>
        <p:nvSpPr>
          <p:cNvPr id="16" name="Text 14"/>
          <p:cNvSpPr/>
          <p:nvPr/>
        </p:nvSpPr>
        <p:spPr>
          <a:xfrm>
            <a:off x="1936750" y="3668911"/>
            <a:ext cx="149590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03 progress()</a:t>
            </a:r>
            <a:endParaRPr lang="en-US" sz="1500" dirty="0"/>
          </a:p>
        </p:txBody>
      </p:sp>
      <p:sp>
        <p:nvSpPr>
          <p:cNvPr id="17" name="Shape 15"/>
          <p:cNvSpPr/>
          <p:nvPr/>
        </p:nvSpPr>
        <p:spPr>
          <a:xfrm>
            <a:off x="1123950" y="4027686"/>
            <a:ext cx="4508500" cy="0"/>
          </a:xfrm>
          <a:prstGeom prst="line">
            <a:avLst/>
          </a:prstGeom>
          <a:noFill/>
          <a:ln w="6350">
            <a:solidFill>
              <a:srgbClr val="DCD7CC"/>
            </a:solidFill>
            <a:prstDash val="solid"/>
          </a:ln>
        </p:spPr>
      </p:sp>
      <p:sp>
        <p:nvSpPr>
          <p:cNvPr id="18" name="Text 16"/>
          <p:cNvSpPr/>
          <p:nvPr/>
        </p:nvSpPr>
        <p:spPr>
          <a:xfrm>
            <a:off x="1123950" y="41197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0:33</a:t>
            </a:r>
            <a:endParaRPr lang="en-US" sz="1400" dirty="0"/>
          </a:p>
        </p:txBody>
      </p:sp>
      <p:sp>
        <p:nvSpPr>
          <p:cNvPr id="19" name="Text 17"/>
          <p:cNvSpPr/>
          <p:nvPr/>
        </p:nvSpPr>
        <p:spPr>
          <a:xfrm>
            <a:off x="1936750" y="4119761"/>
            <a:ext cx="97393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04 :has()</a:t>
            </a:r>
            <a:endParaRPr lang="en-US" sz="1500" dirty="0"/>
          </a:p>
        </p:txBody>
      </p:sp>
      <p:sp>
        <p:nvSpPr>
          <p:cNvPr id="20" name="Shape 18"/>
          <p:cNvSpPr/>
          <p:nvPr/>
        </p:nvSpPr>
        <p:spPr>
          <a:xfrm>
            <a:off x="1123950" y="4478536"/>
            <a:ext cx="4508500" cy="0"/>
          </a:xfrm>
          <a:prstGeom prst="line">
            <a:avLst/>
          </a:prstGeom>
          <a:noFill/>
          <a:ln w="6350">
            <a:solidFill>
              <a:srgbClr val="DCD7CC"/>
            </a:solidFill>
            <a:prstDash val="solid"/>
          </a:ln>
        </p:spPr>
      </p:sp>
      <p:sp>
        <p:nvSpPr>
          <p:cNvPr id="21" name="Text 19"/>
          <p:cNvSpPr/>
          <p:nvPr/>
        </p:nvSpPr>
        <p:spPr>
          <a:xfrm>
            <a:off x="1123950" y="45706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0:45</a:t>
            </a:r>
            <a:endParaRPr lang="en-US" sz="1400" dirty="0"/>
          </a:p>
        </p:txBody>
      </p:sp>
      <p:sp>
        <p:nvSpPr>
          <p:cNvPr id="22" name="Text 20"/>
          <p:cNvSpPr/>
          <p:nvPr/>
        </p:nvSpPr>
        <p:spPr>
          <a:xfrm>
            <a:off x="1936750" y="4570611"/>
            <a:ext cx="243625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05 Anchor positioning</a:t>
            </a:r>
            <a:endParaRPr lang="en-US" sz="1500" dirty="0"/>
          </a:p>
        </p:txBody>
      </p:sp>
      <p:sp>
        <p:nvSpPr>
          <p:cNvPr id="23" name="Shape 21"/>
          <p:cNvSpPr/>
          <p:nvPr/>
        </p:nvSpPr>
        <p:spPr>
          <a:xfrm>
            <a:off x="6251575" y="1588095"/>
            <a:ext cx="5124450" cy="3595291"/>
          </a:xfrm>
          <a:prstGeom prst="roundRect">
            <a:avLst>
              <a:gd name="adj" fmla="val 3444"/>
            </a:avLst>
          </a:prstGeom>
          <a:solidFill>
            <a:srgbClr val="FBFAF7"/>
          </a:solidFill>
          <a:ln w="6350">
            <a:solidFill>
              <a:srgbClr val="DCD7CC"/>
            </a:solidFill>
            <a:prstDash val="solid"/>
          </a:ln>
        </p:spPr>
      </p:sp>
      <p:sp>
        <p:nvSpPr>
          <p:cNvPr id="24" name="Text 22"/>
          <p:cNvSpPr/>
          <p:nvPr/>
        </p:nvSpPr>
        <p:spPr>
          <a:xfrm>
            <a:off x="6559550" y="1845270"/>
            <a:ext cx="46437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A29"/>
                </a:solidFill>
                <a:latin typeface="Space Grotesk" pitchFamily="34" charset="0"/>
                <a:ea typeface="Space Grotesk" pitchFamily="34" charset="-122"/>
                <a:cs typeface="Space Grotesk" pitchFamily="34" charset="-120"/>
              </a:rPr>
              <a:t>Part 2</a:t>
            </a:r>
            <a:endParaRPr lang="en-US" sz="1800" dirty="0"/>
          </a:p>
        </p:txBody>
      </p:sp>
      <p:sp>
        <p:nvSpPr>
          <p:cNvPr id="25" name="Shape 23"/>
          <p:cNvSpPr/>
          <p:nvPr/>
        </p:nvSpPr>
        <p:spPr>
          <a:xfrm>
            <a:off x="6559550" y="2224286"/>
            <a:ext cx="4508500" cy="0"/>
          </a:xfrm>
          <a:prstGeom prst="line">
            <a:avLst/>
          </a:prstGeom>
          <a:noFill/>
          <a:ln w="6350">
            <a:solidFill>
              <a:srgbClr val="DCD7CC"/>
            </a:solidFill>
            <a:prstDash val="solid"/>
          </a:ln>
        </p:spPr>
      </p:sp>
      <p:sp>
        <p:nvSpPr>
          <p:cNvPr id="26" name="Text 24"/>
          <p:cNvSpPr/>
          <p:nvPr/>
        </p:nvSpPr>
        <p:spPr>
          <a:xfrm>
            <a:off x="6559550" y="23163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1:07</a:t>
            </a:r>
            <a:endParaRPr lang="en-US" sz="1400" dirty="0"/>
          </a:p>
        </p:txBody>
      </p:sp>
      <p:sp>
        <p:nvSpPr>
          <p:cNvPr id="27" name="Text 25"/>
          <p:cNvSpPr/>
          <p:nvPr/>
        </p:nvSpPr>
        <p:spPr>
          <a:xfrm>
            <a:off x="7372350" y="2316361"/>
            <a:ext cx="12606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06 @scope</a:t>
            </a:r>
            <a:endParaRPr lang="en-US" sz="1500" dirty="0"/>
          </a:p>
        </p:txBody>
      </p:sp>
      <p:sp>
        <p:nvSpPr>
          <p:cNvPr id="28" name="Shape 26"/>
          <p:cNvSpPr/>
          <p:nvPr/>
        </p:nvSpPr>
        <p:spPr>
          <a:xfrm>
            <a:off x="6559550" y="2675136"/>
            <a:ext cx="4508500" cy="0"/>
          </a:xfrm>
          <a:prstGeom prst="line">
            <a:avLst/>
          </a:prstGeom>
          <a:noFill/>
          <a:ln w="6350">
            <a:solidFill>
              <a:srgbClr val="DCD7CC"/>
            </a:solidFill>
            <a:prstDash val="solid"/>
          </a:ln>
        </p:spPr>
      </p:sp>
      <p:sp>
        <p:nvSpPr>
          <p:cNvPr id="29" name="Text 27"/>
          <p:cNvSpPr/>
          <p:nvPr/>
        </p:nvSpPr>
        <p:spPr>
          <a:xfrm>
            <a:off x="6559550" y="27672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1:15</a:t>
            </a:r>
            <a:endParaRPr lang="en-US" sz="1400" dirty="0"/>
          </a:p>
        </p:txBody>
      </p:sp>
      <p:sp>
        <p:nvSpPr>
          <p:cNvPr id="30" name="Text 28"/>
          <p:cNvSpPr/>
          <p:nvPr/>
        </p:nvSpPr>
        <p:spPr>
          <a:xfrm>
            <a:off x="7372350" y="2767211"/>
            <a:ext cx="328160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07 oklch, color-mix, light-dark</a:t>
            </a:r>
            <a:endParaRPr lang="en-US" sz="1500" dirty="0"/>
          </a:p>
        </p:txBody>
      </p:sp>
      <p:sp>
        <p:nvSpPr>
          <p:cNvPr id="31" name="Shape 29"/>
          <p:cNvSpPr/>
          <p:nvPr/>
        </p:nvSpPr>
        <p:spPr>
          <a:xfrm>
            <a:off x="6559550" y="3125986"/>
            <a:ext cx="4508500" cy="0"/>
          </a:xfrm>
          <a:prstGeom prst="line">
            <a:avLst/>
          </a:prstGeom>
          <a:noFill/>
          <a:ln w="6350">
            <a:solidFill>
              <a:srgbClr val="DCD7CC"/>
            </a:solidFill>
            <a:prstDash val="solid"/>
          </a:ln>
        </p:spPr>
      </p:sp>
      <p:sp>
        <p:nvSpPr>
          <p:cNvPr id="32" name="Text 30"/>
          <p:cNvSpPr/>
          <p:nvPr/>
        </p:nvSpPr>
        <p:spPr>
          <a:xfrm>
            <a:off x="6559550" y="32180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1:26</a:t>
            </a:r>
            <a:endParaRPr lang="en-US" sz="1400" dirty="0"/>
          </a:p>
        </p:txBody>
      </p:sp>
      <p:sp>
        <p:nvSpPr>
          <p:cNvPr id="33" name="Text 31"/>
          <p:cNvSpPr/>
          <p:nvPr/>
        </p:nvSpPr>
        <p:spPr>
          <a:xfrm>
            <a:off x="7372350" y="3218061"/>
            <a:ext cx="1579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08 field-sizing</a:t>
            </a:r>
            <a:endParaRPr lang="en-US" sz="1500" dirty="0"/>
          </a:p>
        </p:txBody>
      </p:sp>
      <p:sp>
        <p:nvSpPr>
          <p:cNvPr id="34" name="Shape 32"/>
          <p:cNvSpPr/>
          <p:nvPr/>
        </p:nvSpPr>
        <p:spPr>
          <a:xfrm>
            <a:off x="6559550" y="3576836"/>
            <a:ext cx="4508500" cy="0"/>
          </a:xfrm>
          <a:prstGeom prst="line">
            <a:avLst/>
          </a:prstGeom>
          <a:noFill/>
          <a:ln w="6350">
            <a:solidFill>
              <a:srgbClr val="DCD7CC"/>
            </a:solidFill>
            <a:prstDash val="solid"/>
          </a:ln>
        </p:spPr>
      </p:sp>
      <p:sp>
        <p:nvSpPr>
          <p:cNvPr id="35" name="Text 33"/>
          <p:cNvSpPr/>
          <p:nvPr/>
        </p:nvSpPr>
        <p:spPr>
          <a:xfrm>
            <a:off x="6559550" y="36689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1:31</a:t>
            </a:r>
            <a:endParaRPr lang="en-US" sz="1400" dirty="0"/>
          </a:p>
        </p:txBody>
      </p:sp>
      <p:sp>
        <p:nvSpPr>
          <p:cNvPr id="36" name="Text 34"/>
          <p:cNvSpPr/>
          <p:nvPr/>
        </p:nvSpPr>
        <p:spPr>
          <a:xfrm>
            <a:off x="7372350" y="3668911"/>
            <a:ext cx="23027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09 Container queries</a:t>
            </a:r>
            <a:endParaRPr lang="en-US" sz="1500" dirty="0"/>
          </a:p>
        </p:txBody>
      </p:sp>
      <p:sp>
        <p:nvSpPr>
          <p:cNvPr id="37" name="Shape 35"/>
          <p:cNvSpPr/>
          <p:nvPr/>
        </p:nvSpPr>
        <p:spPr>
          <a:xfrm>
            <a:off x="6559550" y="4027686"/>
            <a:ext cx="4508500" cy="0"/>
          </a:xfrm>
          <a:prstGeom prst="line">
            <a:avLst/>
          </a:prstGeom>
          <a:noFill/>
          <a:ln w="6350">
            <a:solidFill>
              <a:srgbClr val="DCD7CC"/>
            </a:solidFill>
            <a:prstDash val="solid"/>
          </a:ln>
        </p:spPr>
      </p:sp>
      <p:sp>
        <p:nvSpPr>
          <p:cNvPr id="38" name="Text 36"/>
          <p:cNvSpPr/>
          <p:nvPr/>
        </p:nvSpPr>
        <p:spPr>
          <a:xfrm>
            <a:off x="6559550" y="411976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1:42</a:t>
            </a:r>
            <a:endParaRPr lang="en-US" sz="1400" dirty="0"/>
          </a:p>
        </p:txBody>
      </p:sp>
      <p:sp>
        <p:nvSpPr>
          <p:cNvPr id="39" name="Text 37"/>
          <p:cNvSpPr/>
          <p:nvPr/>
        </p:nvSpPr>
        <p:spPr>
          <a:xfrm>
            <a:off x="7372350" y="4119761"/>
            <a:ext cx="1840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10 Grid &amp; subgrid</a:t>
            </a:r>
            <a:endParaRPr lang="en-US" sz="1500" dirty="0"/>
          </a:p>
        </p:txBody>
      </p:sp>
      <p:sp>
        <p:nvSpPr>
          <p:cNvPr id="40" name="Shape 38"/>
          <p:cNvSpPr/>
          <p:nvPr/>
        </p:nvSpPr>
        <p:spPr>
          <a:xfrm>
            <a:off x="6559550" y="4478536"/>
            <a:ext cx="4508500" cy="0"/>
          </a:xfrm>
          <a:prstGeom prst="line">
            <a:avLst/>
          </a:prstGeom>
          <a:noFill/>
          <a:ln w="6350">
            <a:solidFill>
              <a:srgbClr val="DCD7CC"/>
            </a:solidFill>
            <a:prstDash val="solid"/>
          </a:ln>
        </p:spPr>
      </p:sp>
      <p:sp>
        <p:nvSpPr>
          <p:cNvPr id="41" name="Text 39"/>
          <p:cNvSpPr/>
          <p:nvPr/>
        </p:nvSpPr>
        <p:spPr>
          <a:xfrm>
            <a:off x="6559550" y="4570611"/>
            <a:ext cx="660400" cy="2921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480A"/>
                </a:solidFill>
                <a:latin typeface="JetBrains Mono" pitchFamily="49" charset="0"/>
                <a:ea typeface="JetBrains Mono" pitchFamily="49" charset="-122"/>
                <a:cs typeface="JetBrains Mono" pitchFamily="49" charset="-120"/>
              </a:rPr>
              <a:t>1:52</a:t>
            </a:r>
            <a:endParaRPr lang="en-US" sz="1400" dirty="0"/>
          </a:p>
        </p:txBody>
      </p:sp>
      <p:sp>
        <p:nvSpPr>
          <p:cNvPr id="42" name="Text 40"/>
          <p:cNvSpPr/>
          <p:nvPr/>
        </p:nvSpPr>
        <p:spPr>
          <a:xfrm>
            <a:off x="7372350" y="4570611"/>
            <a:ext cx="138564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A29"/>
                </a:solidFill>
                <a:latin typeface="Space Grotesk" pitchFamily="34" charset="0"/>
                <a:ea typeface="Space Grotesk" pitchFamily="34" charset="-122"/>
                <a:cs typeface="Space Grotesk" pitchFamily="34" charset="-120"/>
              </a:rPr>
              <a:t>Recap &amp; Q&amp;A</a:t>
            </a:r>
            <a:endParaRPr lang="en-US" sz="1500" dirty="0"/>
          </a:p>
        </p:txBody>
      </p:sp>
      <p:sp>
        <p:nvSpPr>
          <p:cNvPr id="43" name="Text 4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Break 0:57–1:07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960041"/>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Much of what we reached for tools to do is now native CSS</a:t>
            </a:r>
            <a:endParaRPr lang="en-US" sz="3200" dirty="0"/>
          </a:p>
        </p:txBody>
      </p:sp>
      <p:sp>
        <p:nvSpPr>
          <p:cNvPr id="3" name="Shape 1"/>
          <p:cNvSpPr/>
          <p:nvPr/>
        </p:nvSpPr>
        <p:spPr>
          <a:xfrm>
            <a:off x="815975" y="2157016"/>
            <a:ext cx="3346450" cy="2025650"/>
          </a:xfrm>
          <a:prstGeom prst="roundRect">
            <a:avLst>
              <a:gd name="adj" fmla="val 6113"/>
            </a:avLst>
          </a:prstGeom>
          <a:solidFill>
            <a:srgbClr val="FBFAF7"/>
          </a:solidFill>
          <a:ln w="6350">
            <a:solidFill>
              <a:srgbClr val="DCD7CC"/>
            </a:solidFill>
            <a:prstDash val="solid"/>
          </a:ln>
        </p:spPr>
      </p:sp>
      <p:sp>
        <p:nvSpPr>
          <p:cNvPr id="4" name="Text 2"/>
          <p:cNvSpPr/>
          <p:nvPr/>
        </p:nvSpPr>
        <p:spPr>
          <a:xfrm>
            <a:off x="1073150" y="2414191"/>
            <a:ext cx="291706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C1A29"/>
                </a:solidFill>
                <a:latin typeface="Space Grotesk" pitchFamily="34" charset="0"/>
                <a:ea typeface="Space Grotesk" pitchFamily="34" charset="-122"/>
                <a:cs typeface="Space Grotesk" pitchFamily="34" charset="-120"/>
              </a:rPr>
              <a:t>Fewer dependencies</a:t>
            </a:r>
            <a:endParaRPr lang="en-US" sz="2000" dirty="0"/>
          </a:p>
        </p:txBody>
      </p:sp>
      <p:sp>
        <p:nvSpPr>
          <p:cNvPr id="5" name="Text 3"/>
          <p:cNvSpPr/>
          <p:nvPr/>
        </p:nvSpPr>
        <p:spPr>
          <a:xfrm>
            <a:off x="1073150" y="2833291"/>
            <a:ext cx="29170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Nesting, variables and color functions used to need a preprocessor.</a:t>
            </a:r>
            <a:endParaRPr lang="en-US" sz="1500" dirty="0"/>
          </a:p>
        </p:txBody>
      </p:sp>
      <p:sp>
        <p:nvSpPr>
          <p:cNvPr id="6" name="Shape 4"/>
          <p:cNvSpPr/>
          <p:nvPr/>
        </p:nvSpPr>
        <p:spPr>
          <a:xfrm>
            <a:off x="4422775" y="2157016"/>
            <a:ext cx="3346450" cy="2025650"/>
          </a:xfrm>
          <a:prstGeom prst="roundRect">
            <a:avLst>
              <a:gd name="adj" fmla="val 6113"/>
            </a:avLst>
          </a:prstGeom>
          <a:solidFill>
            <a:srgbClr val="FBFAF7"/>
          </a:solidFill>
          <a:ln w="6350">
            <a:solidFill>
              <a:srgbClr val="DCD7CC"/>
            </a:solidFill>
            <a:prstDash val="solid"/>
          </a:ln>
        </p:spPr>
      </p:sp>
      <p:sp>
        <p:nvSpPr>
          <p:cNvPr id="7" name="Text 5"/>
          <p:cNvSpPr/>
          <p:nvPr/>
        </p:nvSpPr>
        <p:spPr>
          <a:xfrm>
            <a:off x="4679950" y="2414191"/>
            <a:ext cx="291706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C1A29"/>
                </a:solidFill>
                <a:latin typeface="Space Grotesk" pitchFamily="34" charset="0"/>
                <a:ea typeface="Space Grotesk" pitchFamily="34" charset="-122"/>
                <a:cs typeface="Space Grotesk" pitchFamily="34" charset="-120"/>
              </a:rPr>
              <a:t>Less JavaScript</a:t>
            </a:r>
            <a:endParaRPr lang="en-US" sz="2000" dirty="0"/>
          </a:p>
        </p:txBody>
      </p:sp>
      <p:sp>
        <p:nvSpPr>
          <p:cNvPr id="8" name="Text 6"/>
          <p:cNvSpPr/>
          <p:nvPr/>
        </p:nvSpPr>
        <p:spPr>
          <a:xfrm>
            <a:off x="4679950" y="2833291"/>
            <a:ext cx="29170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Positioning, parent state and autosizing used to need scripts.</a:t>
            </a:r>
            <a:endParaRPr lang="en-US" sz="1500" dirty="0"/>
          </a:p>
        </p:txBody>
      </p:sp>
      <p:sp>
        <p:nvSpPr>
          <p:cNvPr id="9" name="Shape 7"/>
          <p:cNvSpPr/>
          <p:nvPr/>
        </p:nvSpPr>
        <p:spPr>
          <a:xfrm>
            <a:off x="8029575" y="2157016"/>
            <a:ext cx="3346450" cy="2025650"/>
          </a:xfrm>
          <a:prstGeom prst="roundRect">
            <a:avLst>
              <a:gd name="adj" fmla="val 6113"/>
            </a:avLst>
          </a:prstGeom>
          <a:solidFill>
            <a:srgbClr val="FBFAF7"/>
          </a:solidFill>
          <a:ln w="6350">
            <a:solidFill>
              <a:srgbClr val="DCD7CC"/>
            </a:solidFill>
            <a:prstDash val="solid"/>
          </a:ln>
        </p:spPr>
      </p:sp>
      <p:sp>
        <p:nvSpPr>
          <p:cNvPr id="10" name="Text 8"/>
          <p:cNvSpPr/>
          <p:nvPr/>
        </p:nvSpPr>
        <p:spPr>
          <a:xfrm>
            <a:off x="8286750" y="2414191"/>
            <a:ext cx="291706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C1A29"/>
                </a:solidFill>
                <a:latin typeface="Space Grotesk" pitchFamily="34" charset="0"/>
                <a:ea typeface="Space Grotesk" pitchFamily="34" charset="-122"/>
                <a:cs typeface="Space Grotesk" pitchFamily="34" charset="-120"/>
              </a:rPr>
              <a:t>Components that adapt</a:t>
            </a:r>
            <a:endParaRPr lang="en-US" sz="2000" dirty="0"/>
          </a:p>
        </p:txBody>
      </p:sp>
      <p:sp>
        <p:nvSpPr>
          <p:cNvPr id="11" name="Text 9"/>
          <p:cNvSpPr/>
          <p:nvPr/>
        </p:nvSpPr>
        <p:spPr>
          <a:xfrm>
            <a:off x="8286750" y="3125391"/>
            <a:ext cx="29170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Container queries and subgrid let components fit wherever they land.</a:t>
            </a:r>
            <a:endParaRPr lang="en-US" sz="1500" dirty="0"/>
          </a:p>
        </p:txBody>
      </p:sp>
      <p:sp>
        <p:nvSpPr>
          <p:cNvPr id="12" name="Text 10"/>
          <p:cNvSpPr/>
          <p:nvPr/>
        </p:nvSpPr>
        <p:spPr>
          <a:xfrm>
            <a:off x="812800" y="6238280"/>
            <a:ext cx="19931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Why now</a:t>
            </a:r>
            <a:endParaRPr lang="en-US" sz="1200" dirty="0"/>
          </a:p>
        </p:txBody>
      </p:sp>
      <p:sp>
        <p:nvSpPr>
          <p:cNvPr id="13" name="Text 11"/>
          <p:cNvSpPr/>
          <p:nvPr/>
        </p:nvSpPr>
        <p:spPr>
          <a:xfrm>
            <a:off x="10884376" y="6238280"/>
            <a:ext cx="49482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3 / 36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01</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Custom properties</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Variables that live in the browser: they cascade, inherit and change at runtime.</a:t>
            </a:r>
            <a:endParaRPr lang="en-US" sz="2000" dirty="0"/>
          </a:p>
        </p:txBody>
      </p:sp>
      <p:sp>
        <p:nvSpPr>
          <p:cNvPr id="6" name="Text 4"/>
          <p:cNvSpPr/>
          <p:nvPr/>
        </p:nvSpPr>
        <p:spPr>
          <a:xfrm>
            <a:off x="812800" y="5440759"/>
            <a:ext cx="3493393"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Sass variables for theming</a:t>
            </a:r>
            <a:endParaRPr lang="en-US" sz="1400" dirty="0"/>
          </a:p>
        </p:txBody>
      </p:sp>
      <p:sp>
        <p:nvSpPr>
          <p:cNvPr id="7" name="Text 5"/>
          <p:cNvSpPr/>
          <p:nvPr/>
        </p:nvSpPr>
        <p:spPr>
          <a:xfrm>
            <a:off x="812800" y="6238280"/>
            <a:ext cx="3081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01 Custom properties</a:t>
            </a:r>
            <a:endParaRPr lang="en-US" sz="1200" dirty="0"/>
          </a:p>
        </p:txBody>
      </p:sp>
      <p:sp>
        <p:nvSpPr>
          <p:cNvPr id="8" name="Text 6"/>
          <p:cNvSpPr/>
          <p:nvPr/>
        </p:nvSpPr>
        <p:spPr>
          <a:xfrm>
            <a:off x="10880685" y="6238280"/>
            <a:ext cx="4985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4 / 36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Declare once, override anywhere</a:t>
            </a:r>
            <a:endParaRPr lang="en-US" sz="3200" dirty="0"/>
          </a:p>
        </p:txBody>
      </p:sp>
      <p:sp>
        <p:nvSpPr>
          <p:cNvPr id="3" name="Shape 1"/>
          <p:cNvSpPr/>
          <p:nvPr/>
        </p:nvSpPr>
        <p:spPr>
          <a:xfrm>
            <a:off x="825500" y="1584920"/>
            <a:ext cx="0" cy="317500"/>
          </a:xfrm>
          <a:prstGeom prst="line">
            <a:avLst/>
          </a:prstGeom>
          <a:noFill/>
          <a:ln w="25400">
            <a:solidFill>
              <a:srgbClr val="5B4CF0"/>
            </a:solidFill>
            <a:prstDash val="solid"/>
          </a:ln>
        </p:spPr>
      </p:sp>
      <p:sp>
        <p:nvSpPr>
          <p:cNvPr id="4" name="Text 2"/>
          <p:cNvSpPr/>
          <p:nvPr/>
        </p:nvSpPr>
        <p:spPr>
          <a:xfrm>
            <a:off x="990600" y="1610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Declare with </a:t>
            </a:r>
            <a:r>
              <a:rPr lang="en-US" sz="1500" b="1" dirty="0">
                <a:solidFill>
                  <a:srgbClr val="3A3750"/>
                </a:solidFill>
                <a:latin typeface="Space Grotesk" pitchFamily="34" charset="0"/>
                <a:ea typeface="Space Grotesk" pitchFamily="34" charset="-122"/>
                <a:cs typeface="Space Grotesk" pitchFamily="34" charset="-120"/>
              </a:rPr>
              <a:t>--name</a:t>
            </a:r>
            <a:r>
              <a:rPr lang="en-US" sz="1500" dirty="0">
                <a:solidFill>
                  <a:srgbClr val="3A3750"/>
                </a:solidFill>
                <a:latin typeface="Space Grotesk" pitchFamily="34" charset="0"/>
                <a:ea typeface="Space Grotesk" pitchFamily="34" charset="-122"/>
                <a:cs typeface="Space Grotesk" pitchFamily="34" charset="-120"/>
              </a:rPr>
              <a:t>, read with </a:t>
            </a:r>
            <a:r>
              <a:rPr lang="en-US" sz="1500" b="1" dirty="0">
                <a:solidFill>
                  <a:srgbClr val="3A3750"/>
                </a:solidFill>
                <a:latin typeface="Space Grotesk" pitchFamily="34" charset="0"/>
                <a:ea typeface="Space Grotesk" pitchFamily="34" charset="-122"/>
                <a:cs typeface="Space Grotesk" pitchFamily="34" charset="-120"/>
              </a:rPr>
              <a:t>var()</a:t>
            </a:r>
            <a:endParaRPr lang="en-US" sz="1500" dirty="0"/>
          </a:p>
        </p:txBody>
      </p:sp>
      <p:sp>
        <p:nvSpPr>
          <p:cNvPr id="5" name="Shape 3"/>
          <p:cNvSpPr/>
          <p:nvPr/>
        </p:nvSpPr>
        <p:spPr>
          <a:xfrm>
            <a:off x="825500" y="2080220"/>
            <a:ext cx="0" cy="584200"/>
          </a:xfrm>
          <a:prstGeom prst="line">
            <a:avLst/>
          </a:prstGeom>
          <a:noFill/>
          <a:ln w="25400">
            <a:solidFill>
              <a:srgbClr val="5B4CF0"/>
            </a:solidFill>
            <a:prstDash val="solid"/>
          </a:ln>
        </p:spPr>
      </p:sp>
      <p:sp>
        <p:nvSpPr>
          <p:cNvPr id="6" name="Text 4"/>
          <p:cNvSpPr/>
          <p:nvPr/>
        </p:nvSpPr>
        <p:spPr>
          <a:xfrm>
            <a:off x="990600" y="21056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They inherit through the DOM like any property</a:t>
            </a:r>
            <a:endParaRPr lang="en-US" sz="1500" dirty="0"/>
          </a:p>
        </p:txBody>
      </p:sp>
      <p:sp>
        <p:nvSpPr>
          <p:cNvPr id="7" name="Shape 5"/>
          <p:cNvSpPr/>
          <p:nvPr/>
        </p:nvSpPr>
        <p:spPr>
          <a:xfrm>
            <a:off x="825500" y="2842220"/>
            <a:ext cx="0" cy="317500"/>
          </a:xfrm>
          <a:prstGeom prst="line">
            <a:avLst/>
          </a:prstGeom>
          <a:noFill/>
          <a:ln w="25400">
            <a:solidFill>
              <a:srgbClr val="5B4CF0"/>
            </a:solidFill>
            <a:prstDash val="solid"/>
          </a:ln>
        </p:spPr>
      </p:sp>
      <p:sp>
        <p:nvSpPr>
          <p:cNvPr id="8" name="Text 6"/>
          <p:cNvSpPr/>
          <p:nvPr/>
        </p:nvSpPr>
        <p:spPr>
          <a:xfrm>
            <a:off x="990600" y="28676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Give a fallback: </a:t>
            </a:r>
            <a:r>
              <a:rPr lang="en-US" sz="1500" b="1" dirty="0">
                <a:solidFill>
                  <a:srgbClr val="3A3750"/>
                </a:solidFill>
                <a:latin typeface="Space Grotesk" pitchFamily="34" charset="0"/>
                <a:ea typeface="Space Grotesk" pitchFamily="34" charset="-122"/>
                <a:cs typeface="Space Grotesk" pitchFamily="34" charset="-120"/>
              </a:rPr>
              <a:t>var(--x, fallback)</a:t>
            </a:r>
            <a:endParaRPr lang="en-US" sz="1500" dirty="0"/>
          </a:p>
        </p:txBody>
      </p:sp>
      <p:sp>
        <p:nvSpPr>
          <p:cNvPr id="9" name="Shape 7"/>
          <p:cNvSpPr/>
          <p:nvPr/>
        </p:nvSpPr>
        <p:spPr>
          <a:xfrm>
            <a:off x="825500" y="3337520"/>
            <a:ext cx="0" cy="584200"/>
          </a:xfrm>
          <a:prstGeom prst="line">
            <a:avLst/>
          </a:prstGeom>
          <a:noFill/>
          <a:ln w="25400">
            <a:solidFill>
              <a:srgbClr val="5B4CF0"/>
            </a:solidFill>
            <a:prstDash val="solid"/>
          </a:ln>
        </p:spPr>
      </p:sp>
      <p:sp>
        <p:nvSpPr>
          <p:cNvPr id="10" name="Text 8"/>
          <p:cNvSpPr/>
          <p:nvPr/>
        </p:nvSpPr>
        <p:spPr>
          <a:xfrm>
            <a:off x="990600" y="33629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Change them in media queries, on :hover or from JavaScript</a:t>
            </a:r>
            <a:endParaRPr lang="en-US" sz="1500" dirty="0"/>
          </a:p>
        </p:txBody>
      </p:sp>
      <p:sp>
        <p:nvSpPr>
          <p:cNvPr id="11" name="Text 9"/>
          <p:cNvSpPr/>
          <p:nvPr/>
        </p:nvSpPr>
        <p:spPr>
          <a:xfrm>
            <a:off x="4826000" y="1584920"/>
            <a:ext cx="6553200" cy="4222750"/>
          </a:xfrm>
          <a:prstGeom prst="roundRect">
            <a:avLst>
              <a:gd name="adj" fmla="val 3008"/>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:root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--brand</a:t>
            </a:r>
            <a:r>
              <a:rPr lang="en-US" sz="1300" dirty="0">
                <a:solidFill>
                  <a:srgbClr val="E8E6F0"/>
                </a:solidFill>
                <a:latin typeface="JetBrains Mono" pitchFamily="49" charset="0"/>
                <a:ea typeface="JetBrains Mono" pitchFamily="49" charset="-122"/>
                <a:cs typeface="JetBrains Mono" pitchFamily="49" charset="-120"/>
              </a:rPr>
              <a:t>: #5b4cf0;</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--radius</a:t>
            </a:r>
            <a:r>
              <a:rPr lang="en-US" sz="1300" dirty="0">
                <a:solidFill>
                  <a:srgbClr val="E8E6F0"/>
                </a:solidFill>
                <a:latin typeface="JetBrains Mono" pitchFamily="49" charset="0"/>
                <a:ea typeface="JetBrains Mono" pitchFamily="49" charset="-122"/>
                <a:cs typeface="JetBrains Mono" pitchFamily="49" charset="-120"/>
              </a:rPr>
              <a:t>: 12px;</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--space</a:t>
            </a:r>
            <a:r>
              <a:rPr lang="en-US" sz="1300" dirty="0">
                <a:solidFill>
                  <a:srgbClr val="E8E6F0"/>
                </a:solidFill>
                <a:latin typeface="JetBrains Mono" pitchFamily="49" charset="0"/>
                <a:ea typeface="JetBrains Mono" pitchFamily="49" charset="-122"/>
                <a:cs typeface="JetBrains Mono" pitchFamily="49" charset="-120"/>
              </a:rPr>
              <a:t>: 1rem;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padding</a:t>
            </a:r>
            <a:r>
              <a:rPr lang="en-US" sz="1300" dirty="0">
                <a:solidFill>
                  <a:srgbClr val="E8E6F0"/>
                </a:solidFill>
                <a:latin typeface="JetBrains Mono" pitchFamily="49" charset="0"/>
                <a:ea typeface="JetBrains Mono" pitchFamily="49" charset="-122"/>
                <a:cs typeface="JetBrains Mono" pitchFamily="49" charset="-120"/>
              </a:rPr>
              <a:t>: var(--space);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border-radius</a:t>
            </a:r>
            <a:r>
              <a:rPr lang="en-US" sz="1300" dirty="0">
                <a:solidFill>
                  <a:srgbClr val="E8E6F0"/>
                </a:solidFill>
                <a:latin typeface="JetBrains Mono" pitchFamily="49" charset="0"/>
                <a:ea typeface="JetBrains Mono" pitchFamily="49" charset="-122"/>
                <a:cs typeface="JetBrains Mono" pitchFamily="49" charset="-120"/>
              </a:rPr>
              <a:t>: var(--radius);</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color</a:t>
            </a:r>
            <a:r>
              <a:rPr lang="en-US" sz="1300" dirty="0">
                <a:solidFill>
                  <a:srgbClr val="E8E6F0"/>
                </a:solidFill>
                <a:latin typeface="JetBrains Mono" pitchFamily="49" charset="0"/>
                <a:ea typeface="JetBrains Mono" pitchFamily="49" charset="-122"/>
                <a:cs typeface="JetBrains Mono" pitchFamily="49" charset="-120"/>
              </a:rPr>
              <a:t>: var(--accent, var(--brand));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.card.compact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--space</a:t>
            </a:r>
            <a:r>
              <a:rPr lang="en-US" sz="1300" dirty="0">
                <a:solidFill>
                  <a:srgbClr val="E8E6F0"/>
                </a:solidFill>
                <a:latin typeface="JetBrains Mono" pitchFamily="49" charset="0"/>
                <a:ea typeface="JetBrains Mono" pitchFamily="49" charset="-122"/>
                <a:cs typeface="JetBrains Mono" pitchFamily="49" charset="-120"/>
              </a:rPr>
              <a:t>: 0.5rem;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812800" y="6238280"/>
            <a:ext cx="3081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01 Custom properties</a:t>
            </a:r>
            <a:endParaRPr lang="en-US" sz="1200" dirty="0"/>
          </a:p>
        </p:txBody>
      </p:sp>
      <p:sp>
        <p:nvSpPr>
          <p:cNvPr id="13" name="Text 11"/>
          <p:cNvSpPr/>
          <p:nvPr/>
        </p:nvSpPr>
        <p:spPr>
          <a:xfrm>
            <a:off x="10885448" y="6238280"/>
            <a:ext cx="49375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5 / 36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Typed variables with @property</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Give a variable a type, an initial value and inheritance</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Typed variables can transition and animate</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An invalid value falls back to the initial value</a:t>
            </a:r>
            <a:endParaRPr lang="en-US" sz="1500" dirty="0"/>
          </a:p>
        </p:txBody>
      </p:sp>
      <p:sp>
        <p:nvSpPr>
          <p:cNvPr id="9" name="Text 7"/>
          <p:cNvSpPr/>
          <p:nvPr/>
        </p:nvSpPr>
        <p:spPr>
          <a:xfrm>
            <a:off x="4826000" y="1584920"/>
            <a:ext cx="6553200" cy="4222750"/>
          </a:xfrm>
          <a:prstGeom prst="roundRect">
            <a:avLst>
              <a:gd name="adj" fmla="val 3008"/>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@property --angle</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syntax</a:t>
            </a:r>
            <a:r>
              <a:rPr lang="en-US" sz="1300" dirty="0">
                <a:solidFill>
                  <a:srgbClr val="E8E6F0"/>
                </a:solidFill>
                <a:latin typeface="JetBrains Mono" pitchFamily="49" charset="0"/>
                <a:ea typeface="JetBrains Mono" pitchFamily="49" charset="-122"/>
                <a:cs typeface="JetBrains Mono" pitchFamily="49" charset="-120"/>
              </a:rPr>
              <a:t>: "&lt;angle&gt;";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inherits</a:t>
            </a:r>
            <a:r>
              <a:rPr lang="en-US" sz="1300" dirty="0">
                <a:solidFill>
                  <a:srgbClr val="E8E6F0"/>
                </a:solidFill>
                <a:latin typeface="JetBrains Mono" pitchFamily="49" charset="0"/>
                <a:ea typeface="JetBrains Mono" pitchFamily="49" charset="-122"/>
                <a:cs typeface="JetBrains Mono" pitchFamily="49" charset="-120"/>
              </a:rPr>
              <a:t>: false;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initial-value</a:t>
            </a:r>
            <a:r>
              <a:rPr lang="en-US" sz="1300" dirty="0">
                <a:solidFill>
                  <a:srgbClr val="E8E6F0"/>
                </a:solidFill>
                <a:latin typeface="JetBrains Mono" pitchFamily="49" charset="0"/>
                <a:ea typeface="JetBrains Mono" pitchFamily="49" charset="-122"/>
                <a:cs typeface="JetBrains Mono" pitchFamily="49" charset="-120"/>
              </a:rPr>
              <a:t>: 0deg;</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.ring</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background</a:t>
            </a:r>
            <a:r>
              <a:rPr lang="en-US" sz="1300" dirty="0">
                <a:solidFill>
                  <a:srgbClr val="E8E6F0"/>
                </a:solidFill>
                <a:latin typeface="JetBrains Mono" pitchFamily="49" charset="0"/>
                <a:ea typeface="JetBrains Mono" pitchFamily="49" charset="-122"/>
                <a:cs typeface="JetBrains Mono" pitchFamily="49" charset="-120"/>
              </a:rPr>
              <a:t>: conic-gradient(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from var(--angle), #5b4cf0, #ff9a3c, #5b4cf0);</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animation</a:t>
            </a:r>
            <a:r>
              <a:rPr lang="en-US" sz="1300" dirty="0">
                <a:solidFill>
                  <a:srgbClr val="E8E6F0"/>
                </a:solidFill>
                <a:latin typeface="JetBrains Mono" pitchFamily="49" charset="0"/>
                <a:ea typeface="JetBrains Mono" pitchFamily="49" charset="-122"/>
                <a:cs typeface="JetBrains Mono" pitchFamily="49" charset="-120"/>
              </a:rPr>
              <a:t>: spin 3s linear infinite;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@keyframes spin</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to { --angle: 360deg;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3081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01 Custom properties</a:t>
            </a:r>
            <a:endParaRPr lang="en-US" sz="1200" dirty="0"/>
          </a:p>
        </p:txBody>
      </p:sp>
      <p:sp>
        <p:nvSpPr>
          <p:cNvPr id="11" name="Text 9"/>
          <p:cNvSpPr/>
          <p:nvPr/>
        </p:nvSpPr>
        <p:spPr>
          <a:xfrm>
            <a:off x="10882948" y="6238280"/>
            <a:ext cx="49625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6 / 36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4181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02</a:t>
            </a:r>
            <a:endParaRPr lang="en-US" sz="10000" dirty="0"/>
          </a:p>
        </p:txBody>
      </p:sp>
      <p:sp>
        <p:nvSpPr>
          <p:cNvPr id="4" name="Text 2"/>
          <p:cNvSpPr/>
          <p:nvPr>
            <p:ph type="title"/>
          </p:nvPr>
        </p:nvSpPr>
        <p:spPr>
          <a:xfrm>
            <a:off x="812800" y="38913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Native nesting</a:t>
            </a:r>
            <a:endParaRPr lang="en-US" sz="6000" dirty="0"/>
          </a:p>
        </p:txBody>
      </p:sp>
      <p:sp>
        <p:nvSpPr>
          <p:cNvPr id="5" name="Text 3"/>
          <p:cNvSpPr/>
          <p:nvPr/>
        </p:nvSpPr>
        <p:spPr>
          <a:xfrm>
            <a:off x="812800" y="4894659"/>
            <a:ext cx="78486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Write nested rules in plain CSS, with no build step.</a:t>
            </a:r>
            <a:endParaRPr lang="en-US" sz="2000" dirty="0"/>
          </a:p>
        </p:txBody>
      </p:sp>
      <p:sp>
        <p:nvSpPr>
          <p:cNvPr id="6" name="Text 4"/>
          <p:cNvSpPr/>
          <p:nvPr/>
        </p:nvSpPr>
        <p:spPr>
          <a:xfrm>
            <a:off x="812800" y="5440759"/>
            <a:ext cx="3427512"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Sass and Less for nesting</a:t>
            </a:r>
            <a:endParaRPr lang="en-US" sz="1400" dirty="0"/>
          </a:p>
        </p:txBody>
      </p:sp>
      <p:sp>
        <p:nvSpPr>
          <p:cNvPr id="7" name="Text 5"/>
          <p:cNvSpPr/>
          <p:nvPr/>
        </p:nvSpPr>
        <p:spPr>
          <a:xfrm>
            <a:off x="812800" y="6238280"/>
            <a:ext cx="2742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02 Native nesting</a:t>
            </a:r>
            <a:endParaRPr lang="en-US" sz="1200" dirty="0"/>
          </a:p>
        </p:txBody>
      </p:sp>
      <p:sp>
        <p:nvSpPr>
          <p:cNvPr id="8" name="Text 6"/>
          <p:cNvSpPr/>
          <p:nvPr/>
        </p:nvSpPr>
        <p:spPr>
          <a:xfrm>
            <a:off x="10891877" y="6238280"/>
            <a:ext cx="4873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7 / 36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Nest selectors, states and at-rules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Nest selectors, pseudo-classes and media queries</a:t>
            </a:r>
            <a:endParaRPr lang="en-US" sz="1500" dirty="0"/>
          </a:p>
        </p:txBody>
      </p:sp>
      <p:sp>
        <p:nvSpPr>
          <p:cNvPr id="5" name="Shape 3"/>
          <p:cNvSpPr/>
          <p:nvPr/>
        </p:nvSpPr>
        <p:spPr>
          <a:xfrm>
            <a:off x="825500" y="2346920"/>
            <a:ext cx="0" cy="317500"/>
          </a:xfrm>
          <a:prstGeom prst="line">
            <a:avLst/>
          </a:prstGeom>
          <a:noFill/>
          <a:ln w="25400">
            <a:solidFill>
              <a:srgbClr val="5B4CF0"/>
            </a:solidFill>
            <a:prstDash val="solid"/>
          </a:ln>
        </p:spPr>
      </p:sp>
      <p:sp>
        <p:nvSpPr>
          <p:cNvPr id="6" name="Text 4"/>
          <p:cNvSpPr/>
          <p:nvPr/>
        </p:nvSpPr>
        <p:spPr>
          <a:xfrm>
            <a:off x="990600" y="2372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&amp;</a:t>
            </a:r>
            <a:r>
              <a:rPr lang="en-US" sz="1500" dirty="0">
                <a:solidFill>
                  <a:srgbClr val="3A3750"/>
                </a:solidFill>
                <a:latin typeface="Space Grotesk" pitchFamily="34" charset="0"/>
                <a:ea typeface="Space Grotesk" pitchFamily="34" charset="-122"/>
                <a:cs typeface="Space Grotesk" pitchFamily="34" charset="-120"/>
              </a:rPr>
              <a:t> refers to the parent selector</a:t>
            </a:r>
            <a:endParaRPr lang="en-US" sz="1500" dirty="0"/>
          </a:p>
        </p:txBody>
      </p:sp>
      <p:sp>
        <p:nvSpPr>
          <p:cNvPr id="7" name="Shape 5"/>
          <p:cNvSpPr/>
          <p:nvPr/>
        </p:nvSpPr>
        <p:spPr>
          <a:xfrm>
            <a:off x="825500" y="2842220"/>
            <a:ext cx="0" cy="584200"/>
          </a:xfrm>
          <a:prstGeom prst="line">
            <a:avLst/>
          </a:prstGeom>
          <a:noFill/>
          <a:ln w="25400">
            <a:solidFill>
              <a:srgbClr val="5B4CF0"/>
            </a:solidFill>
            <a:prstDash val="solid"/>
          </a:ln>
        </p:spPr>
      </p:sp>
      <p:sp>
        <p:nvSpPr>
          <p:cNvPr id="8" name="Text 6"/>
          <p:cNvSpPr/>
          <p:nvPr/>
        </p:nvSpPr>
        <p:spPr>
          <a:xfrm>
            <a:off x="990600" y="28676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Element selectors no longer need &amp; in front</a:t>
            </a:r>
            <a:endParaRPr lang="en-US" sz="1500" dirty="0"/>
          </a:p>
        </p:txBody>
      </p:sp>
      <p:sp>
        <p:nvSpPr>
          <p:cNvPr id="9" name="Text 7"/>
          <p:cNvSpPr/>
          <p:nvPr/>
        </p:nvSpPr>
        <p:spPr>
          <a:xfrm>
            <a:off x="4826000" y="1584920"/>
            <a:ext cx="6553200" cy="3232150"/>
          </a:xfrm>
          <a:prstGeom prst="roundRect">
            <a:avLst>
              <a:gd name="adj" fmla="val 3929"/>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padding</a:t>
            </a:r>
            <a:r>
              <a:rPr lang="en-US" sz="1300" dirty="0">
                <a:solidFill>
                  <a:srgbClr val="E8E6F0"/>
                </a:solidFill>
                <a:latin typeface="JetBrains Mono" pitchFamily="49" charset="0"/>
                <a:ea typeface="JetBrains Mono" pitchFamily="49" charset="-122"/>
                <a:cs typeface="JetBrains Mono" pitchFamily="49" charset="-120"/>
              </a:rPr>
              <a:t>: 1rem;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h2 { font-size: 1.5rem;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&amp;:hover { box-shadow: 0 4px 12px #0002;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.theme-dark &amp; { background: #1b1a26;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FFB86B"/>
                </a:solidFill>
                <a:latin typeface="JetBrains Mono" pitchFamily="49" charset="0"/>
                <a:ea typeface="JetBrains Mono" pitchFamily="49" charset="-122"/>
                <a:cs typeface="JetBrains Mono" pitchFamily="49" charset="-120"/>
              </a:rPr>
              <a:t>@media (width &gt; 600px)</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padding</a:t>
            </a:r>
            <a:r>
              <a:rPr lang="en-US" sz="1300" dirty="0">
                <a:solidFill>
                  <a:srgbClr val="E8E6F0"/>
                </a:solidFill>
                <a:latin typeface="JetBrains Mono" pitchFamily="49" charset="0"/>
                <a:ea typeface="JetBrains Mono" pitchFamily="49" charset="-122"/>
                <a:cs typeface="JetBrains Mono" pitchFamily="49" charset="-120"/>
              </a:rPr>
              <a:t>: 2rem;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742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02 Native nesting</a:t>
            </a:r>
            <a:endParaRPr lang="en-US" sz="1200" dirty="0"/>
          </a:p>
        </p:txBody>
      </p:sp>
      <p:sp>
        <p:nvSpPr>
          <p:cNvPr id="11" name="Text 9"/>
          <p:cNvSpPr/>
          <p:nvPr/>
        </p:nvSpPr>
        <p:spPr>
          <a:xfrm>
            <a:off x="10881043" y="6238280"/>
            <a:ext cx="4981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8 / 36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Where it differs from Sass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No string concatenation: </a:t>
            </a:r>
            <a:r>
              <a:rPr lang="en-US" sz="1500" b="1" dirty="0">
                <a:solidFill>
                  <a:srgbClr val="3A3750"/>
                </a:solidFill>
                <a:latin typeface="Space Grotesk" pitchFamily="34" charset="0"/>
                <a:ea typeface="Space Grotesk" pitchFamily="34" charset="-122"/>
                <a:cs typeface="Space Grotesk" pitchFamily="34" charset="-120"/>
              </a:rPr>
              <a:t>&amp;__title</a:t>
            </a:r>
            <a:r>
              <a:rPr lang="en-US" sz="1500" dirty="0">
                <a:solidFill>
                  <a:srgbClr val="3A3750"/>
                </a:solidFill>
                <a:latin typeface="Space Grotesk" pitchFamily="34" charset="0"/>
                <a:ea typeface="Space Grotesk" pitchFamily="34" charset="-122"/>
                <a:cs typeface="Space Grotesk" pitchFamily="34" charset="-120"/>
              </a:rPr>
              <a:t> doesn't work</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Nested selectors behave like </a:t>
            </a:r>
            <a:r>
              <a:rPr lang="en-US" sz="1500" b="1" dirty="0">
                <a:solidFill>
                  <a:srgbClr val="3A3750"/>
                </a:solidFill>
                <a:latin typeface="Space Grotesk" pitchFamily="34" charset="0"/>
                <a:ea typeface="Space Grotesk" pitchFamily="34" charset="-122"/>
                <a:cs typeface="Space Grotesk" pitchFamily="34" charset="-120"/>
              </a:rPr>
              <a:t>:is()</a:t>
            </a:r>
            <a:r>
              <a:rPr lang="en-US" sz="1500" dirty="0">
                <a:solidFill>
                  <a:srgbClr val="3A3750"/>
                </a:solidFill>
                <a:latin typeface="Space Grotesk" pitchFamily="34" charset="0"/>
                <a:ea typeface="Space Grotesk" pitchFamily="34" charset="-122"/>
                <a:cs typeface="Space Grotesk" pitchFamily="34" charset="-120"/>
              </a:rPr>
              <a:t> for specificity</a:t>
            </a:r>
            <a:endParaRPr lang="en-US" sz="1500" dirty="0"/>
          </a:p>
        </p:txBody>
      </p:sp>
      <p:sp>
        <p:nvSpPr>
          <p:cNvPr id="7" name="Shape 5"/>
          <p:cNvSpPr/>
          <p:nvPr/>
        </p:nvSpPr>
        <p:spPr>
          <a:xfrm>
            <a:off x="825500" y="3108920"/>
            <a:ext cx="0" cy="317500"/>
          </a:xfrm>
          <a:prstGeom prst="line">
            <a:avLst/>
          </a:prstGeom>
          <a:noFill/>
          <a:ln w="25400">
            <a:solidFill>
              <a:srgbClr val="5B4CF0"/>
            </a:solidFill>
            <a:prstDash val="solid"/>
          </a:ln>
        </p:spPr>
      </p:sp>
      <p:sp>
        <p:nvSpPr>
          <p:cNvPr id="8" name="Text 6"/>
          <p:cNvSpPr/>
          <p:nvPr/>
        </p:nvSpPr>
        <p:spPr>
          <a:xfrm>
            <a:off x="990600" y="3134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Keep it shallow: two or three levels</a:t>
            </a:r>
            <a:endParaRPr lang="en-US" sz="1500" dirty="0"/>
          </a:p>
        </p:txBody>
      </p:sp>
      <p:sp>
        <p:nvSpPr>
          <p:cNvPr id="9" name="Text 7"/>
          <p:cNvSpPr/>
          <p:nvPr/>
        </p:nvSpPr>
        <p:spPr>
          <a:xfrm>
            <a:off x="4826000" y="1584920"/>
            <a:ext cx="6553200" cy="3232150"/>
          </a:xfrm>
          <a:prstGeom prst="roundRect">
            <a:avLst>
              <a:gd name="adj" fmla="val 3929"/>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Works in Sass, not in CSS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.block</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&amp;__title { ...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CSS nesting behaves like :is()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#main, .sidebar</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p { color: gray;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equals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:is(#main, .sidebar) p { color: gray; }</a:t>
            </a:r>
            <a:endParaRPr lang="en-US" sz="1300" dirty="0"/>
          </a:p>
        </p:txBody>
      </p:sp>
      <p:sp>
        <p:nvSpPr>
          <p:cNvPr id="10" name="Text 8"/>
          <p:cNvSpPr/>
          <p:nvPr/>
        </p:nvSpPr>
        <p:spPr>
          <a:xfrm>
            <a:off x="812800" y="6238280"/>
            <a:ext cx="27422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02 Native nesting</a:t>
            </a:r>
            <a:endParaRPr lang="en-US" sz="1200" dirty="0"/>
          </a:p>
        </p:txBody>
      </p:sp>
      <p:sp>
        <p:nvSpPr>
          <p:cNvPr id="11" name="Text 9"/>
          <p:cNvSpPr/>
          <p:nvPr/>
        </p:nvSpPr>
        <p:spPr>
          <a:xfrm>
            <a:off x="10882948" y="6238280"/>
            <a:ext cx="49625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9 / 36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03</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progress()</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Turn any value into a 0–1 ratio between two points, entirely in CSS.</a:t>
            </a:r>
            <a:endParaRPr lang="en-US" sz="2000" dirty="0"/>
          </a:p>
        </p:txBody>
      </p:sp>
      <p:sp>
        <p:nvSpPr>
          <p:cNvPr id="6" name="Text 4"/>
          <p:cNvSpPr/>
          <p:nvPr/>
        </p:nvSpPr>
        <p:spPr>
          <a:xfrm>
            <a:off x="812800" y="5440759"/>
            <a:ext cx="4800898"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resize listeners and long clamp() formulas</a:t>
            </a:r>
            <a:endParaRPr lang="en-US" sz="1400" dirty="0"/>
          </a:p>
        </p:txBody>
      </p:sp>
      <p:sp>
        <p:nvSpPr>
          <p:cNvPr id="7" name="Text 5"/>
          <p:cNvSpPr/>
          <p:nvPr/>
        </p:nvSpPr>
        <p:spPr>
          <a:xfrm>
            <a:off x="812800" y="6238280"/>
            <a:ext cx="2391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03 progress()</a:t>
            </a:r>
            <a:endParaRPr lang="en-US" sz="1200" dirty="0"/>
          </a:p>
        </p:txBody>
      </p:sp>
      <p:sp>
        <p:nvSpPr>
          <p:cNvPr id="8" name="Text 6"/>
          <p:cNvSpPr/>
          <p:nvPr/>
        </p:nvSpPr>
        <p:spPr>
          <a:xfrm>
            <a:off x="10801271" y="6238280"/>
            <a:ext cx="57792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10 / 36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A ratio between a start and an end</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progress(value, start, end)</a:t>
            </a:r>
            <a:r>
              <a:rPr lang="en-US" sz="1500" dirty="0">
                <a:solidFill>
                  <a:srgbClr val="3A3750"/>
                </a:solidFill>
                <a:latin typeface="Space Grotesk" pitchFamily="34" charset="0"/>
                <a:ea typeface="Space Grotesk" pitchFamily="34" charset="-122"/>
                <a:cs typeface="Space Grotesk" pitchFamily="34" charset="-120"/>
              </a:rPr>
              <a:t> returns a number</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The result is clamped between 0 and 1</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Multiply it in calc() to drive any property</a:t>
            </a:r>
            <a:endParaRPr lang="en-US" sz="1500" dirty="0"/>
          </a:p>
        </p:txBody>
      </p:sp>
      <p:sp>
        <p:nvSpPr>
          <p:cNvPr id="9" name="Shape 7"/>
          <p:cNvSpPr/>
          <p:nvPr/>
        </p:nvSpPr>
        <p:spPr>
          <a:xfrm>
            <a:off x="825500" y="3870920"/>
            <a:ext cx="0" cy="317500"/>
          </a:xfrm>
          <a:prstGeom prst="line">
            <a:avLst/>
          </a:prstGeom>
          <a:noFill/>
          <a:ln w="25400">
            <a:solidFill>
              <a:srgbClr val="5B4CF0"/>
            </a:solidFill>
            <a:prstDash val="solid"/>
          </a:ln>
        </p:spPr>
      </p:sp>
      <p:sp>
        <p:nvSpPr>
          <p:cNvPr id="10" name="Text 8"/>
          <p:cNvSpPr/>
          <p:nvPr/>
        </p:nvSpPr>
        <p:spPr>
          <a:xfrm>
            <a:off x="990600" y="3896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Baseline since September 2026</a:t>
            </a:r>
            <a:endParaRPr lang="en-US" sz="1500" dirty="0"/>
          </a:p>
        </p:txBody>
      </p:sp>
      <p:sp>
        <p:nvSpPr>
          <p:cNvPr id="11" name="Text 9"/>
          <p:cNvSpPr/>
          <p:nvPr/>
        </p:nvSpPr>
        <p:spPr>
          <a:xfrm>
            <a:off x="4826000" y="1584920"/>
            <a:ext cx="6553200" cy="2241550"/>
          </a:xfrm>
          <a:prstGeom prst="roundRect">
            <a:avLst>
              <a:gd name="adj" fmla="val 5666"/>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0 at 320px wide, 1 at 1200px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.hero</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t>
            </a:r>
            <a:r>
              <a:rPr lang="en-US" sz="1300" dirty="0">
                <a:solidFill>
                  <a:srgbClr val="E8E6F0"/>
                </a:solidFill>
                <a:latin typeface="JetBrains Mono" pitchFamily="49" charset="0"/>
                <a:ea typeface="JetBrains Mono" pitchFamily="49" charset="-122"/>
                <a:cs typeface="JetBrains Mono" pitchFamily="49" charset="-120"/>
              </a:rPr>
              <a:t>: progress(100vw, 320px, 1200px);</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font-size</a:t>
            </a:r>
            <a:r>
              <a:rPr lang="en-US" sz="1300" dirty="0">
                <a:solidFill>
                  <a:srgbClr val="E8E6F0"/>
                </a:solidFill>
                <a:latin typeface="JetBrains Mono" pitchFamily="49" charset="0"/>
                <a:ea typeface="JetBrains Mono" pitchFamily="49" charset="-122"/>
                <a:cs typeface="JetBrains Mono" pitchFamily="49" charset="-120"/>
              </a:rPr>
              <a:t>: calc(1.5rem + 2.5rem * var(--p));</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padding-block</a:t>
            </a:r>
            <a:r>
              <a:rPr lang="en-US" sz="1300" dirty="0">
                <a:solidFill>
                  <a:srgbClr val="E8E6F0"/>
                </a:solidFill>
                <a:latin typeface="JetBrains Mono" pitchFamily="49" charset="0"/>
                <a:ea typeface="JetBrains Mono" pitchFamily="49" charset="-122"/>
                <a:cs typeface="JetBrains Mono" pitchFamily="49" charset="-120"/>
              </a:rPr>
              <a:t>: calc(1rem + 4rem * var(--p));</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812800" y="6238280"/>
            <a:ext cx="2391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03 progress()</a:t>
            </a:r>
            <a:endParaRPr lang="en-US" sz="1200" dirty="0"/>
          </a:p>
        </p:txBody>
      </p:sp>
      <p:sp>
        <p:nvSpPr>
          <p:cNvPr id="13" name="Text 11"/>
          <p:cNvSpPr/>
          <p:nvPr/>
        </p:nvSpPr>
        <p:spPr>
          <a:xfrm>
            <a:off x="10842109" y="6238280"/>
            <a:ext cx="5370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11 / 36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One ratio, many properties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Measure against the container with </a:t>
            </a:r>
            <a:r>
              <a:rPr lang="en-US" sz="1500" b="1" dirty="0">
                <a:solidFill>
                  <a:srgbClr val="3A3750"/>
                </a:solidFill>
                <a:latin typeface="Space Grotesk" pitchFamily="34" charset="0"/>
                <a:ea typeface="Space Grotesk" pitchFamily="34" charset="-122"/>
                <a:cs typeface="Space Grotesk" pitchFamily="34" charset="-120"/>
              </a:rPr>
              <a:t>cqi</a:t>
            </a:r>
            <a:r>
              <a:rPr lang="en-US" sz="1500" dirty="0">
                <a:solidFill>
                  <a:srgbClr val="3A3750"/>
                </a:solidFill>
                <a:latin typeface="Space Grotesk" pitchFamily="34" charset="0"/>
                <a:ea typeface="Space Grotesk" pitchFamily="34" charset="-122"/>
                <a:cs typeface="Space Grotesk" pitchFamily="34" charset="-120"/>
              </a:rPr>
              <a:t> units</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One ratio can drive size, spacing and color together</a:t>
            </a:r>
            <a:endParaRPr lang="en-US" sz="1500" dirty="0"/>
          </a:p>
        </p:txBody>
      </p:sp>
      <p:sp>
        <p:nvSpPr>
          <p:cNvPr id="7" name="Shape 5"/>
          <p:cNvSpPr/>
          <p:nvPr/>
        </p:nvSpPr>
        <p:spPr>
          <a:xfrm>
            <a:off x="825500" y="3108920"/>
            <a:ext cx="0" cy="317500"/>
          </a:xfrm>
          <a:prstGeom prst="line">
            <a:avLst/>
          </a:prstGeom>
          <a:noFill/>
          <a:ln w="25400">
            <a:solidFill>
              <a:srgbClr val="5B4CF0"/>
            </a:solidFill>
            <a:prstDash val="solid"/>
          </a:ln>
        </p:spPr>
      </p:sp>
      <p:sp>
        <p:nvSpPr>
          <p:cNvPr id="8" name="Text 6"/>
          <p:cNvSpPr/>
          <p:nvPr/>
        </p:nvSpPr>
        <p:spPr>
          <a:xfrm>
            <a:off x="990600" y="3134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Works anywhere a number works</a:t>
            </a:r>
            <a:endParaRPr lang="en-US" sz="1500" dirty="0"/>
          </a:p>
        </p:txBody>
      </p:sp>
      <p:sp>
        <p:nvSpPr>
          <p:cNvPr id="9" name="Text 7"/>
          <p:cNvSpPr/>
          <p:nvPr/>
        </p:nvSpPr>
        <p:spPr>
          <a:xfrm>
            <a:off x="4826000" y="1584920"/>
            <a:ext cx="6553200" cy="3479800"/>
          </a:xfrm>
          <a:prstGeom prst="roundRect">
            <a:avLst>
              <a:gd name="adj" fmla="val 3650"/>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.card-wrap</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container-type</a:t>
            </a:r>
            <a:r>
              <a:rPr lang="en-US" sz="1300" dirty="0">
                <a:solidFill>
                  <a:srgbClr val="E8E6F0"/>
                </a:solidFill>
                <a:latin typeface="JetBrains Mono" pitchFamily="49" charset="0"/>
                <a:ea typeface="JetBrains Mono" pitchFamily="49" charset="-122"/>
                <a:cs typeface="JetBrains Mono" pitchFamily="49" charset="-120"/>
              </a:rPr>
              <a:t>: inline-size;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a:t>
            </a:r>
            <a:r>
              <a:rPr lang="en-US" sz="1300" dirty="0">
                <a:solidFill>
                  <a:srgbClr val="E8E6F0"/>
                </a:solidFill>
                <a:latin typeface="JetBrains Mono" pitchFamily="49" charset="0"/>
                <a:ea typeface="JetBrains Mono" pitchFamily="49" charset="-122"/>
                <a:cs typeface="JetBrains Mono" pitchFamily="49" charset="-120"/>
              </a:rPr>
              <a:t>: progress(100cqi, 300px, 700px);</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gap</a:t>
            </a:r>
            <a:r>
              <a:rPr lang="en-US" sz="1300" dirty="0">
                <a:solidFill>
                  <a:srgbClr val="E8E6F0"/>
                </a:solidFill>
                <a:latin typeface="JetBrains Mono" pitchFamily="49" charset="0"/>
                <a:ea typeface="JetBrains Mono" pitchFamily="49" charset="-122"/>
                <a:cs typeface="JetBrains Mono" pitchFamily="49" charset="-120"/>
              </a:rPr>
              <a:t>: calc(0.5rem + 1.5rem * var(--p));</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opacity</a:t>
            </a:r>
            <a:r>
              <a:rPr lang="en-US" sz="1300" dirty="0">
                <a:solidFill>
                  <a:srgbClr val="E8E6F0"/>
                </a:solidFill>
                <a:latin typeface="JetBrains Mono" pitchFamily="49" charset="0"/>
                <a:ea typeface="JetBrains Mono" pitchFamily="49" charset="-122"/>
                <a:cs typeface="JetBrains Mono" pitchFamily="49" charset="-120"/>
              </a:rPr>
              <a:t>: calc(0.6 + 0.4 * var(--p));</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background: color-mix(in oklch,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#5b4cf0 calc(100% * var(--p)), white);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391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03 progress()</a:t>
            </a:r>
            <a:endParaRPr lang="en-US" sz="1200" dirty="0"/>
          </a:p>
        </p:txBody>
      </p:sp>
      <p:sp>
        <p:nvSpPr>
          <p:cNvPr id="11" name="Text 9"/>
          <p:cNvSpPr/>
          <p:nvPr/>
        </p:nvSpPr>
        <p:spPr>
          <a:xfrm>
            <a:off x="10808295" y="6238280"/>
            <a:ext cx="5709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12 / 36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04</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:has()</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The long-awaited parent selector: style an element based on what it contains or what follows it.</a:t>
            </a:r>
            <a:endParaRPr lang="en-US" sz="2000" dirty="0"/>
          </a:p>
        </p:txBody>
      </p:sp>
      <p:sp>
        <p:nvSpPr>
          <p:cNvPr id="6" name="Text 4"/>
          <p:cNvSpPr/>
          <p:nvPr/>
        </p:nvSpPr>
        <p:spPr>
          <a:xfrm>
            <a:off x="812800" y="5440759"/>
            <a:ext cx="3396655"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JavaScript class toggling</a:t>
            </a:r>
            <a:endParaRPr lang="en-US" sz="1400" dirty="0"/>
          </a:p>
        </p:txBody>
      </p:sp>
      <p:sp>
        <p:nvSpPr>
          <p:cNvPr id="7" name="Text 5"/>
          <p:cNvSpPr/>
          <p:nvPr/>
        </p:nvSpPr>
        <p:spPr>
          <a:xfrm>
            <a:off x="812800" y="6238280"/>
            <a:ext cx="1974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04 :has()</a:t>
            </a:r>
            <a:endParaRPr lang="en-US" sz="1200" dirty="0"/>
          </a:p>
        </p:txBody>
      </p:sp>
      <p:sp>
        <p:nvSpPr>
          <p:cNvPr id="8" name="Text 6"/>
          <p:cNvSpPr/>
          <p:nvPr/>
        </p:nvSpPr>
        <p:spPr>
          <a:xfrm>
            <a:off x="10807938" y="6238280"/>
            <a:ext cx="57126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13 / 36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Select by what's inside</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Matches when any of its relative selectors match</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Works for parents, previous siblings and the whole page</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Combines with :checked, :invalid, :focus-within and more</a:t>
            </a:r>
            <a:endParaRPr lang="en-US" sz="1500" dirty="0"/>
          </a:p>
        </p:txBody>
      </p:sp>
      <p:sp>
        <p:nvSpPr>
          <p:cNvPr id="9" name="Text 7"/>
          <p:cNvSpPr/>
          <p:nvPr/>
        </p:nvSpPr>
        <p:spPr>
          <a:xfrm>
            <a:off x="4826000" y="1584920"/>
            <a:ext cx="6553200" cy="3975100"/>
          </a:xfrm>
          <a:prstGeom prst="roundRect">
            <a:avLst>
              <a:gd name="adj" fmla="val 3195"/>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card with an image gets two columns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.card:has(img)</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grid-template-columns</a:t>
            </a:r>
            <a:r>
              <a:rPr lang="en-US" sz="1300" dirty="0">
                <a:solidFill>
                  <a:srgbClr val="E8E6F0"/>
                </a:solidFill>
                <a:latin typeface="JetBrains Mono" pitchFamily="49" charset="0"/>
                <a:ea typeface="JetBrains Mono" pitchFamily="49" charset="-122"/>
                <a:cs typeface="JetBrains Mono" pitchFamily="49" charset="-120"/>
              </a:rPr>
              <a:t>: 200px 1fr;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label right before a checked box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label:has(+ input:checked)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font-weight</a:t>
            </a:r>
            <a:r>
              <a:rPr lang="en-US" sz="1300" dirty="0">
                <a:solidFill>
                  <a:srgbClr val="E8E6F0"/>
                </a:solidFill>
                <a:latin typeface="JetBrains Mono" pitchFamily="49" charset="0"/>
                <a:ea typeface="JetBrains Mono" pitchFamily="49" charset="-122"/>
                <a:cs typeface="JetBrains Mono" pitchFamily="49" charset="-120"/>
              </a:rPr>
              <a:t>: 700;</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lock scrolling while a dialog is open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body:has(dialog[open])</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overflow</a:t>
            </a:r>
            <a:r>
              <a:rPr lang="en-US" sz="1300" dirty="0">
                <a:solidFill>
                  <a:srgbClr val="E8E6F0"/>
                </a:solidFill>
                <a:latin typeface="JetBrains Mono" pitchFamily="49" charset="0"/>
                <a:ea typeface="JetBrains Mono" pitchFamily="49" charset="-122"/>
                <a:cs typeface="JetBrains Mono" pitchFamily="49" charset="-120"/>
              </a:rPr>
              <a:t>: hidden;</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1974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04 :has()</a:t>
            </a:r>
            <a:endParaRPr lang="en-US" sz="1200" dirty="0"/>
          </a:p>
        </p:txBody>
      </p:sp>
      <p:sp>
        <p:nvSpPr>
          <p:cNvPr id="11" name="Text 9"/>
          <p:cNvSpPr/>
          <p:nvPr/>
        </p:nvSpPr>
        <p:spPr>
          <a:xfrm>
            <a:off x="10804247" y="6238280"/>
            <a:ext cx="57495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14 / 36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Form state and quantity queries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:user-invalid</a:t>
            </a:r>
            <a:r>
              <a:rPr lang="en-US" sz="1500" dirty="0">
                <a:solidFill>
                  <a:srgbClr val="3A3750"/>
                </a:solidFill>
                <a:latin typeface="Space Grotesk" pitchFamily="34" charset="0"/>
                <a:ea typeface="Space Grotesk" pitchFamily="34" charset="-122"/>
                <a:cs typeface="Space Grotesk" pitchFamily="34" charset="-120"/>
              </a:rPr>
              <a:t> waits until the user has interacted</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Quantity queries change layout by number of children</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Anchor :has() to a specific element, not the universal selector</a:t>
            </a:r>
            <a:endParaRPr lang="en-US" sz="1500" dirty="0"/>
          </a:p>
        </p:txBody>
      </p:sp>
      <p:sp>
        <p:nvSpPr>
          <p:cNvPr id="9" name="Text 7"/>
          <p:cNvSpPr/>
          <p:nvPr/>
        </p:nvSpPr>
        <p:spPr>
          <a:xfrm>
            <a:off x="4826000" y="1584920"/>
            <a:ext cx="6553200" cy="3727450"/>
          </a:xfrm>
          <a:prstGeom prst="roundRect">
            <a:avLst>
              <a:gd name="adj" fmla="val 3407"/>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form:has(:user-invalid) .submit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opacity</a:t>
            </a:r>
            <a:r>
              <a:rPr lang="en-US" sz="1300" dirty="0">
                <a:solidFill>
                  <a:srgbClr val="E8E6F0"/>
                </a:solidFill>
                <a:latin typeface="JetBrains Mono" pitchFamily="49" charset="0"/>
                <a:ea typeface="JetBrains Mono" pitchFamily="49" charset="-122"/>
                <a:cs typeface="JetBrains Mono" pitchFamily="49" charset="-120"/>
              </a:rPr>
              <a:t>: 0.5;</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pointer-events</a:t>
            </a:r>
            <a:r>
              <a:rPr lang="en-US" sz="1300" dirty="0">
                <a:solidFill>
                  <a:srgbClr val="E8E6F0"/>
                </a:solidFill>
                <a:latin typeface="JetBrains Mono" pitchFamily="49" charset="0"/>
                <a:ea typeface="JetBrains Mono" pitchFamily="49" charset="-122"/>
                <a:cs typeface="JetBrains Mono" pitchFamily="49" charset="-120"/>
              </a:rPr>
              <a:t>: none;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.field:has(input:focus-visible)</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outline</a:t>
            </a:r>
            <a:r>
              <a:rPr lang="en-US" sz="1300" dirty="0">
                <a:solidFill>
                  <a:srgbClr val="E8E6F0"/>
                </a:solidFill>
                <a:latin typeface="JetBrains Mono" pitchFamily="49" charset="0"/>
                <a:ea typeface="JetBrains Mono" pitchFamily="49" charset="-122"/>
                <a:cs typeface="JetBrains Mono" pitchFamily="49" charset="-120"/>
              </a:rPr>
              <a:t>: 2px solid var(--brand);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6 or more items: two columns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ul:has(&gt; li:nth-child(6))</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columns</a:t>
            </a:r>
            <a:r>
              <a:rPr lang="en-US" sz="1300" dirty="0">
                <a:solidFill>
                  <a:srgbClr val="E8E6F0"/>
                </a:solidFill>
                <a:latin typeface="JetBrains Mono" pitchFamily="49" charset="0"/>
                <a:ea typeface="JetBrains Mono" pitchFamily="49" charset="-122"/>
                <a:cs typeface="JetBrains Mono" pitchFamily="49" charset="-120"/>
              </a:rPr>
              <a:t>: 2;</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1974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04 :has()</a:t>
            </a:r>
            <a:endParaRPr lang="en-US" sz="1200" dirty="0"/>
          </a:p>
        </p:txBody>
      </p:sp>
      <p:sp>
        <p:nvSpPr>
          <p:cNvPr id="11" name="Text 9"/>
          <p:cNvSpPr/>
          <p:nvPr/>
        </p:nvSpPr>
        <p:spPr>
          <a:xfrm>
            <a:off x="10809010" y="6238280"/>
            <a:ext cx="57019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15 / 36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05</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Anchor positioning</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Tether tooltips, menus and popovers to another element without a positioning library.</a:t>
            </a:r>
            <a:endParaRPr lang="en-US" sz="2000" dirty="0"/>
          </a:p>
        </p:txBody>
      </p:sp>
      <p:sp>
        <p:nvSpPr>
          <p:cNvPr id="6" name="Text 4"/>
          <p:cNvSpPr/>
          <p:nvPr/>
        </p:nvSpPr>
        <p:spPr>
          <a:xfrm>
            <a:off x="812800" y="5440759"/>
            <a:ext cx="3331865"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Floating UI and Popper.js</a:t>
            </a:r>
            <a:endParaRPr lang="en-US" sz="1400" dirty="0"/>
          </a:p>
        </p:txBody>
      </p:sp>
      <p:sp>
        <p:nvSpPr>
          <p:cNvPr id="7" name="Text 5"/>
          <p:cNvSpPr/>
          <p:nvPr/>
        </p:nvSpPr>
        <p:spPr>
          <a:xfrm>
            <a:off x="812800" y="6238280"/>
            <a:ext cx="31439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05 Anchor positioning</a:t>
            </a:r>
            <a:endParaRPr lang="en-US" sz="1200" dirty="0"/>
          </a:p>
        </p:txBody>
      </p:sp>
      <p:sp>
        <p:nvSpPr>
          <p:cNvPr id="8" name="Text 6"/>
          <p:cNvSpPr/>
          <p:nvPr/>
        </p:nvSpPr>
        <p:spPr>
          <a:xfrm>
            <a:off x="10806509" y="6238280"/>
            <a:ext cx="5726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16 / 36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Name an anchor, then position against it</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anchor-name</a:t>
            </a:r>
            <a:r>
              <a:rPr lang="en-US" sz="1500" dirty="0">
                <a:solidFill>
                  <a:srgbClr val="3A3750"/>
                </a:solidFill>
                <a:latin typeface="Space Grotesk" pitchFamily="34" charset="0"/>
                <a:ea typeface="Space Grotesk" pitchFamily="34" charset="-122"/>
                <a:cs typeface="Space Grotesk" pitchFamily="34" charset="-120"/>
              </a:rPr>
              <a:t> marks the anchor element</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position-anchor</a:t>
            </a:r>
            <a:r>
              <a:rPr lang="en-US" sz="1500" dirty="0">
                <a:solidFill>
                  <a:srgbClr val="3A3750"/>
                </a:solidFill>
                <a:latin typeface="Space Grotesk" pitchFamily="34" charset="0"/>
                <a:ea typeface="Space Grotesk" pitchFamily="34" charset="-122"/>
                <a:cs typeface="Space Grotesk" pitchFamily="34" charset="-120"/>
              </a:rPr>
              <a:t> links the positioned element</a:t>
            </a:r>
            <a:endParaRPr lang="en-US" sz="1500" dirty="0"/>
          </a:p>
        </p:txBody>
      </p:sp>
      <p:sp>
        <p:nvSpPr>
          <p:cNvPr id="7" name="Shape 5"/>
          <p:cNvSpPr/>
          <p:nvPr/>
        </p:nvSpPr>
        <p:spPr>
          <a:xfrm>
            <a:off x="825500" y="3108920"/>
            <a:ext cx="0" cy="317500"/>
          </a:xfrm>
          <a:prstGeom prst="line">
            <a:avLst/>
          </a:prstGeom>
          <a:noFill/>
          <a:ln w="25400">
            <a:solidFill>
              <a:srgbClr val="5B4CF0"/>
            </a:solidFill>
            <a:prstDash val="solid"/>
          </a:ln>
        </p:spPr>
      </p:sp>
      <p:sp>
        <p:nvSpPr>
          <p:cNvPr id="8" name="Text 6"/>
          <p:cNvSpPr/>
          <p:nvPr/>
        </p:nvSpPr>
        <p:spPr>
          <a:xfrm>
            <a:off x="990600" y="3134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anchor()</a:t>
            </a:r>
            <a:r>
              <a:rPr lang="en-US" sz="1500" dirty="0">
                <a:solidFill>
                  <a:srgbClr val="3A3750"/>
                </a:solidFill>
                <a:latin typeface="Space Grotesk" pitchFamily="34" charset="0"/>
                <a:ea typeface="Space Grotesk" pitchFamily="34" charset="-122"/>
                <a:cs typeface="Space Grotesk" pitchFamily="34" charset="-120"/>
              </a:rPr>
              <a:t> reads the anchor's edges</a:t>
            </a:r>
            <a:endParaRPr lang="en-US" sz="1500" dirty="0"/>
          </a:p>
        </p:txBody>
      </p:sp>
      <p:sp>
        <p:nvSpPr>
          <p:cNvPr id="9" name="Shape 7"/>
          <p:cNvSpPr/>
          <p:nvPr/>
        </p:nvSpPr>
        <p:spPr>
          <a:xfrm>
            <a:off x="825500" y="3604220"/>
            <a:ext cx="0" cy="317500"/>
          </a:xfrm>
          <a:prstGeom prst="line">
            <a:avLst/>
          </a:prstGeom>
          <a:noFill/>
          <a:ln w="25400">
            <a:solidFill>
              <a:srgbClr val="5B4CF0"/>
            </a:solidFill>
            <a:prstDash val="solid"/>
          </a:ln>
        </p:spPr>
      </p:sp>
      <p:sp>
        <p:nvSpPr>
          <p:cNvPr id="10" name="Text 8"/>
          <p:cNvSpPr/>
          <p:nvPr/>
        </p:nvSpPr>
        <p:spPr>
          <a:xfrm>
            <a:off x="990600" y="36296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Baseline since January 2026</a:t>
            </a:r>
            <a:endParaRPr lang="en-US" sz="1500" dirty="0"/>
          </a:p>
        </p:txBody>
      </p:sp>
      <p:sp>
        <p:nvSpPr>
          <p:cNvPr id="11" name="Text 9"/>
          <p:cNvSpPr/>
          <p:nvPr/>
        </p:nvSpPr>
        <p:spPr>
          <a:xfrm>
            <a:off x="4826000" y="1584920"/>
            <a:ext cx="6553200" cy="3232150"/>
          </a:xfrm>
          <a:prstGeom prst="roundRect">
            <a:avLst>
              <a:gd name="adj" fmla="val 3929"/>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.trigger</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anchor-name</a:t>
            </a:r>
            <a:r>
              <a:rPr lang="en-US" sz="1300" dirty="0">
                <a:solidFill>
                  <a:srgbClr val="E8E6F0"/>
                </a:solidFill>
                <a:latin typeface="JetBrains Mono" pitchFamily="49" charset="0"/>
                <a:ea typeface="JetBrains Mono" pitchFamily="49" charset="-122"/>
                <a:cs typeface="JetBrains Mono" pitchFamily="49" charset="-120"/>
              </a:rPr>
              <a:t>: --menu;</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.menu</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position</a:t>
            </a:r>
            <a:r>
              <a:rPr lang="en-US" sz="1300" dirty="0">
                <a:solidFill>
                  <a:srgbClr val="E8E6F0"/>
                </a:solidFill>
                <a:latin typeface="JetBrains Mono" pitchFamily="49" charset="0"/>
                <a:ea typeface="JetBrains Mono" pitchFamily="49" charset="-122"/>
                <a:cs typeface="JetBrains Mono" pitchFamily="49" charset="-120"/>
              </a:rPr>
              <a:t>: absolute;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position-anchor</a:t>
            </a:r>
            <a:r>
              <a:rPr lang="en-US" sz="1300" dirty="0">
                <a:solidFill>
                  <a:srgbClr val="E8E6F0"/>
                </a:solidFill>
                <a:latin typeface="JetBrains Mono" pitchFamily="49" charset="0"/>
                <a:ea typeface="JetBrains Mono" pitchFamily="49" charset="-122"/>
                <a:cs typeface="JetBrains Mono" pitchFamily="49" charset="-120"/>
              </a:rPr>
              <a:t>: --menu;</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top</a:t>
            </a:r>
            <a:r>
              <a:rPr lang="en-US" sz="1300" dirty="0">
                <a:solidFill>
                  <a:srgbClr val="E8E6F0"/>
                </a:solidFill>
                <a:latin typeface="JetBrains Mono" pitchFamily="49" charset="0"/>
                <a:ea typeface="JetBrains Mono" pitchFamily="49" charset="-122"/>
                <a:cs typeface="JetBrains Mono" pitchFamily="49" charset="-120"/>
              </a:rPr>
              <a:t>: anchor(bottom);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left</a:t>
            </a:r>
            <a:r>
              <a:rPr lang="en-US" sz="1300" dirty="0">
                <a:solidFill>
                  <a:srgbClr val="E8E6F0"/>
                </a:solidFill>
                <a:latin typeface="JetBrains Mono" pitchFamily="49" charset="0"/>
                <a:ea typeface="JetBrains Mono" pitchFamily="49" charset="-122"/>
                <a:cs typeface="JetBrains Mono" pitchFamily="49" charset="-120"/>
              </a:rPr>
              <a:t>: anchor(left);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margin-top</a:t>
            </a:r>
            <a:r>
              <a:rPr lang="en-US" sz="1300" dirty="0">
                <a:solidFill>
                  <a:srgbClr val="E8E6F0"/>
                </a:solidFill>
                <a:latin typeface="JetBrains Mono" pitchFamily="49" charset="0"/>
                <a:ea typeface="JetBrains Mono" pitchFamily="49" charset="-122"/>
                <a:cs typeface="JetBrains Mono" pitchFamily="49" charset="-120"/>
              </a:rPr>
              <a:t>: 8px;</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812800" y="6238280"/>
            <a:ext cx="31439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05 Anchor positioning</a:t>
            </a:r>
            <a:endParaRPr lang="en-US" sz="1200" dirty="0"/>
          </a:p>
        </p:txBody>
      </p:sp>
      <p:sp>
        <p:nvSpPr>
          <p:cNvPr id="13" name="Text 11"/>
          <p:cNvSpPr/>
          <p:nvPr/>
        </p:nvSpPr>
        <p:spPr>
          <a:xfrm>
            <a:off x="10815439" y="6238280"/>
            <a:ext cx="56376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17 / 36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Popover plus position-area</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position-area</a:t>
            </a:r>
            <a:r>
              <a:rPr lang="en-US" sz="1500" dirty="0">
                <a:solidFill>
                  <a:srgbClr val="3A3750"/>
                </a:solidFill>
                <a:latin typeface="Space Grotesk" pitchFamily="34" charset="0"/>
                <a:ea typeface="Space Grotesk" pitchFamily="34" charset="-122"/>
                <a:cs typeface="Space Grotesk" pitchFamily="34" charset="-120"/>
              </a:rPr>
              <a:t> places the element on a 3×3 grid around the anchor</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position-try-fallbacks</a:t>
            </a:r>
            <a:r>
              <a:rPr lang="en-US" sz="1500" dirty="0">
                <a:solidFill>
                  <a:srgbClr val="3A3750"/>
                </a:solidFill>
                <a:latin typeface="Space Grotesk" pitchFamily="34" charset="0"/>
                <a:ea typeface="Space Grotesk" pitchFamily="34" charset="-122"/>
                <a:cs typeface="Space Grotesk" pitchFamily="34" charset="-120"/>
              </a:rPr>
              <a:t> flips it when space runs out</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popover</a:t>
            </a:r>
            <a:r>
              <a:rPr lang="en-US" sz="1500" dirty="0">
                <a:solidFill>
                  <a:srgbClr val="3A3750"/>
                </a:solidFill>
                <a:latin typeface="Space Grotesk" pitchFamily="34" charset="0"/>
                <a:ea typeface="Space Grotesk" pitchFamily="34" charset="-122"/>
                <a:cs typeface="Space Grotesk" pitchFamily="34" charset="-120"/>
              </a:rPr>
              <a:t> adds open, close, light-dismiss and top layer</a:t>
            </a:r>
            <a:endParaRPr lang="en-US" sz="1500" dirty="0"/>
          </a:p>
        </p:txBody>
      </p:sp>
      <p:sp>
        <p:nvSpPr>
          <p:cNvPr id="9" name="Text 7"/>
          <p:cNvSpPr/>
          <p:nvPr/>
        </p:nvSpPr>
        <p:spPr>
          <a:xfrm>
            <a:off x="4826000" y="1584920"/>
            <a:ext cx="6553200" cy="3479800"/>
          </a:xfrm>
          <a:prstGeom prst="roundRect">
            <a:avLst>
              <a:gd name="adj" fmla="val 3650"/>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7FD6C8"/>
                </a:solidFill>
                <a:latin typeface="JetBrains Mono" pitchFamily="49" charset="0"/>
                <a:ea typeface="JetBrains Mono" pitchFamily="49" charset="-122"/>
                <a:cs typeface="JetBrains Mono" pitchFamily="49" charset="-120"/>
              </a:rPr>
              <a:t>&lt;button popovertarget="tip"&gt;Info&lt;/button&gt;</a:t>
            </a:r>
            <a:endParaRPr lang="en-US" sz="1300" dirty="0"/>
          </a:p>
          <a:p>
            <a:pPr algn="l" indent="0" marL="0">
              <a:lnSpc>
                <a:spcPts val="1950"/>
              </a:lnSpc>
              <a:buNone/>
            </a:pPr>
            <a:r>
              <a:rPr lang="en-US" sz="1300" dirty="0">
                <a:solidFill>
                  <a:srgbClr val="7FD6C8"/>
                </a:solidFill>
                <a:latin typeface="JetBrains Mono" pitchFamily="49" charset="0"/>
                <a:ea typeface="JetBrains Mono" pitchFamily="49" charset="-122"/>
                <a:cs typeface="JetBrains Mono" pitchFamily="49" charset="-120"/>
              </a:rPr>
              <a:t>&lt;div id="tip" popover&gt;Saved to drafts&lt;/div&gt;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button</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anchor-name</a:t>
            </a:r>
            <a:r>
              <a:rPr lang="en-US" sz="1300" dirty="0">
                <a:solidFill>
                  <a:srgbClr val="E8E6F0"/>
                </a:solidFill>
                <a:latin typeface="JetBrains Mono" pitchFamily="49" charset="0"/>
                <a:ea typeface="JetBrains Mono" pitchFamily="49" charset="-122"/>
                <a:cs typeface="JetBrains Mono" pitchFamily="49" charset="-120"/>
              </a:rPr>
              <a:t>: --info;</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#tip</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position-anchor</a:t>
            </a:r>
            <a:r>
              <a:rPr lang="en-US" sz="1300" dirty="0">
                <a:solidFill>
                  <a:srgbClr val="E8E6F0"/>
                </a:solidFill>
                <a:latin typeface="JetBrains Mono" pitchFamily="49" charset="0"/>
                <a:ea typeface="JetBrains Mono" pitchFamily="49" charset="-122"/>
                <a:cs typeface="JetBrains Mono" pitchFamily="49" charset="-120"/>
              </a:rPr>
              <a:t>: --info;</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position-area</a:t>
            </a:r>
            <a:r>
              <a:rPr lang="en-US" sz="1300" dirty="0">
                <a:solidFill>
                  <a:srgbClr val="E8E6F0"/>
                </a:solidFill>
                <a:latin typeface="JetBrains Mono" pitchFamily="49" charset="0"/>
                <a:ea typeface="JetBrains Mono" pitchFamily="49" charset="-122"/>
                <a:cs typeface="JetBrains Mono" pitchFamily="49" charset="-120"/>
              </a:rPr>
              <a:t>: top;</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position-try-fallbacks</a:t>
            </a:r>
            <a:r>
              <a:rPr lang="en-US" sz="1300" dirty="0">
                <a:solidFill>
                  <a:srgbClr val="E8E6F0"/>
                </a:solidFill>
                <a:latin typeface="JetBrains Mono" pitchFamily="49" charset="0"/>
                <a:ea typeface="JetBrains Mono" pitchFamily="49" charset="-122"/>
                <a:cs typeface="JetBrains Mono" pitchFamily="49" charset="-120"/>
              </a:rPr>
              <a:t>: flip-block;</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31439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05 Anchor positioning</a:t>
            </a:r>
            <a:endParaRPr lang="en-US" sz="1200" dirty="0"/>
          </a:p>
        </p:txBody>
      </p:sp>
      <p:sp>
        <p:nvSpPr>
          <p:cNvPr id="11" name="Text 9"/>
          <p:cNvSpPr/>
          <p:nvPr/>
        </p:nvSpPr>
        <p:spPr>
          <a:xfrm>
            <a:off x="10804604" y="6238280"/>
            <a:ext cx="574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18 / 36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9A3C"/>
        </a:solidFill>
      </p:bgPr>
    </p:bg>
    <p:spTree>
      <p:nvGrpSpPr>
        <p:cNvPr id="1" name=""/>
        <p:cNvGrpSpPr/>
        <p:nvPr/>
      </p:nvGrpSpPr>
      <p:grpSpPr>
        <a:xfrm>
          <a:off x="0" y="0"/>
          <a:ext cx="0" cy="0"/>
          <a:chOff x="0" y="0"/>
          <a:chExt cx="0" cy="0"/>
        </a:xfrm>
      </p:grpSpPr>
      <p:sp>
        <p:nvSpPr>
          <p:cNvPr id="2" name="Text 0"/>
          <p:cNvSpPr/>
          <p:nvPr/>
        </p:nvSpPr>
        <p:spPr>
          <a:xfrm>
            <a:off x="812800" y="21615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121F"/>
                </a:solidFill>
                <a:latin typeface="JetBrains Mono" pitchFamily="49" charset="0"/>
                <a:ea typeface="JetBrains Mono" pitchFamily="49" charset="-122"/>
                <a:cs typeface="JetBrains Mono" pitchFamily="49" charset="-120"/>
              </a:rPr>
              <a:t>/* half-time */</a:t>
            </a:r>
            <a:endParaRPr lang="en-US" sz="2000" dirty="0"/>
          </a:p>
        </p:txBody>
      </p:sp>
      <p:sp>
        <p:nvSpPr>
          <p:cNvPr id="3" name="Text 1"/>
          <p:cNvSpPr/>
          <p:nvPr>
            <p:ph type="title"/>
          </p:nvPr>
        </p:nvSpPr>
        <p:spPr>
          <a:xfrm>
            <a:off x="812800" y="2669580"/>
            <a:ext cx="10883392" cy="1473200"/>
          </a:xfrm>
          <a:prstGeom prst="rect">
            <a:avLst/>
          </a:prstGeom>
          <a:noFill/>
          <a:ln/>
        </p:spPr>
        <p:txBody>
          <a:bodyPr wrap="square" lIns="0" tIns="0" rIns="0" bIns="0" rtlCol="0" anchor="t">
            <a:normAutofit/>
          </a:bodyPr>
          <a:lstStyle/>
          <a:p>
            <a:pPr algn="l" indent="0" marL="0">
              <a:lnSpc>
                <a:spcPts val="11400"/>
              </a:lnSpc>
              <a:buNone/>
            </a:pPr>
            <a:r>
              <a:rPr lang="en-US" sz="12000" b="1" i="0" spc="-300" kern="0" dirty="0">
                <a:solidFill>
                  <a:srgbClr val="14121F"/>
                </a:solidFill>
                <a:latin typeface="Space Grotesk" pitchFamily="34" charset="0"/>
                <a:ea typeface="Space Grotesk" pitchFamily="34" charset="-122"/>
                <a:cs typeface="Space Grotesk" pitchFamily="34" charset="-120"/>
              </a:rPr>
              <a:t>Break</a:t>
            </a:r>
            <a:endParaRPr lang="en-US" sz="12000" dirty="0"/>
          </a:p>
        </p:txBody>
      </p:sp>
      <p:sp>
        <p:nvSpPr>
          <p:cNvPr id="4" name="Text 2"/>
          <p:cNvSpPr/>
          <p:nvPr/>
        </p:nvSpPr>
        <p:spPr>
          <a:xfrm>
            <a:off x="812800" y="4269780"/>
            <a:ext cx="10883392"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4121F"/>
                </a:solidFill>
                <a:latin typeface="Space Grotesk" pitchFamily="34" charset="0"/>
                <a:ea typeface="Space Grotesk" pitchFamily="34" charset="-122"/>
                <a:cs typeface="Space Grotesk" pitchFamily="34" charset="-120"/>
              </a:rPr>
              <a:t>10 minutes · back at 14:07</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06</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@scope</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Limit styles to part of the page, with an upper and a lower boundary.</a:t>
            </a:r>
            <a:endParaRPr lang="en-US" sz="2000" dirty="0"/>
          </a:p>
        </p:txBody>
      </p:sp>
      <p:sp>
        <p:nvSpPr>
          <p:cNvPr id="6" name="Text 4"/>
          <p:cNvSpPr/>
          <p:nvPr/>
        </p:nvSpPr>
        <p:spPr>
          <a:xfrm>
            <a:off x="812800" y="5440759"/>
            <a:ext cx="4289524"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BEM naming and CSS-in-JS scoping</a:t>
            </a:r>
            <a:endParaRPr lang="en-US" sz="1400" dirty="0"/>
          </a:p>
        </p:txBody>
      </p:sp>
      <p:sp>
        <p:nvSpPr>
          <p:cNvPr id="7" name="Text 5"/>
          <p:cNvSpPr/>
          <p:nvPr/>
        </p:nvSpPr>
        <p:spPr>
          <a:xfrm>
            <a:off x="812800" y="6238280"/>
            <a:ext cx="22033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06 @scope</a:t>
            </a:r>
            <a:endParaRPr lang="en-US" sz="1200" dirty="0"/>
          </a:p>
        </p:txBody>
      </p:sp>
      <p:sp>
        <p:nvSpPr>
          <p:cNvPr id="8" name="Text 6"/>
          <p:cNvSpPr/>
          <p:nvPr/>
        </p:nvSpPr>
        <p:spPr>
          <a:xfrm>
            <a:off x="10767576" y="6238280"/>
            <a:ext cx="61162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20 / 36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A scope with a start and an end</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@scope (root) to (limit)</a:t>
            </a:r>
            <a:r>
              <a:rPr lang="en-US" sz="1500" dirty="0">
                <a:solidFill>
                  <a:srgbClr val="3A3750"/>
                </a:solidFill>
                <a:latin typeface="Space Grotesk" pitchFamily="34" charset="0"/>
                <a:ea typeface="Space Grotesk" pitchFamily="34" charset="-122"/>
                <a:cs typeface="Space Grotesk" pitchFamily="34" charset="-120"/>
              </a:rPr>
              <a:t> creates a donut-shaped scope</a:t>
            </a:r>
            <a:endParaRPr lang="en-US" sz="1500" dirty="0"/>
          </a:p>
        </p:txBody>
      </p:sp>
      <p:sp>
        <p:nvSpPr>
          <p:cNvPr id="5" name="Shape 3"/>
          <p:cNvSpPr/>
          <p:nvPr/>
        </p:nvSpPr>
        <p:spPr>
          <a:xfrm>
            <a:off x="825500" y="2346920"/>
            <a:ext cx="0" cy="317500"/>
          </a:xfrm>
          <a:prstGeom prst="line">
            <a:avLst/>
          </a:prstGeom>
          <a:noFill/>
          <a:ln w="25400">
            <a:solidFill>
              <a:srgbClr val="5B4CF0"/>
            </a:solidFill>
            <a:prstDash val="solid"/>
          </a:ln>
        </p:spPr>
      </p:sp>
      <p:sp>
        <p:nvSpPr>
          <p:cNvPr id="6" name="Text 4"/>
          <p:cNvSpPr/>
          <p:nvPr/>
        </p:nvSpPr>
        <p:spPr>
          <a:xfrm>
            <a:off x="990600" y="2372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Styles stop at the lower boundary</a:t>
            </a:r>
            <a:endParaRPr lang="en-US" sz="1500" dirty="0"/>
          </a:p>
        </p:txBody>
      </p:sp>
      <p:sp>
        <p:nvSpPr>
          <p:cNvPr id="7" name="Shape 5"/>
          <p:cNvSpPr/>
          <p:nvPr/>
        </p:nvSpPr>
        <p:spPr>
          <a:xfrm>
            <a:off x="825500" y="2842220"/>
            <a:ext cx="0" cy="317500"/>
          </a:xfrm>
          <a:prstGeom prst="line">
            <a:avLst/>
          </a:prstGeom>
          <a:noFill/>
          <a:ln w="25400">
            <a:solidFill>
              <a:srgbClr val="5B4CF0"/>
            </a:solidFill>
            <a:prstDash val="solid"/>
          </a:ln>
        </p:spPr>
      </p:sp>
      <p:sp>
        <p:nvSpPr>
          <p:cNvPr id="8" name="Text 6"/>
          <p:cNvSpPr/>
          <p:nvPr/>
        </p:nvSpPr>
        <p:spPr>
          <a:xfrm>
            <a:off x="990600" y="28676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:scope</a:t>
            </a:r>
            <a:r>
              <a:rPr lang="en-US" sz="1500" dirty="0">
                <a:solidFill>
                  <a:srgbClr val="3A3750"/>
                </a:solidFill>
                <a:latin typeface="Space Grotesk" pitchFamily="34" charset="0"/>
                <a:ea typeface="Space Grotesk" pitchFamily="34" charset="-122"/>
                <a:cs typeface="Space Grotesk" pitchFamily="34" charset="-120"/>
              </a:rPr>
              <a:t> targets the scope root itself</a:t>
            </a:r>
            <a:endParaRPr lang="en-US" sz="1500" dirty="0"/>
          </a:p>
        </p:txBody>
      </p:sp>
      <p:sp>
        <p:nvSpPr>
          <p:cNvPr id="9" name="Text 7"/>
          <p:cNvSpPr/>
          <p:nvPr/>
        </p:nvSpPr>
        <p:spPr>
          <a:xfrm>
            <a:off x="4826000" y="1584920"/>
            <a:ext cx="6553200" cy="2736850"/>
          </a:xfrm>
          <a:prstGeom prst="roundRect">
            <a:avLst>
              <a:gd name="adj" fmla="val 4640"/>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@scope (.card) to (.card-content)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FFB86B"/>
                </a:solidFill>
                <a:latin typeface="JetBrains Mono" pitchFamily="49" charset="0"/>
                <a:ea typeface="JetBrains Mono" pitchFamily="49" charset="-122"/>
                <a:cs typeface="JetBrains Mono" pitchFamily="49" charset="-120"/>
              </a:rPr>
              <a:t>:scope</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border</a:t>
            </a:r>
            <a:r>
              <a:rPr lang="en-US" sz="1300" dirty="0">
                <a:solidFill>
                  <a:srgbClr val="E8E6F0"/>
                </a:solidFill>
                <a:latin typeface="JetBrains Mono" pitchFamily="49" charset="0"/>
                <a:ea typeface="JetBrains Mono" pitchFamily="49" charset="-122"/>
                <a:cs typeface="JetBrains Mono" pitchFamily="49" charset="-120"/>
              </a:rPr>
              <a:t>: 1px solid #ddd;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FFB86B"/>
                </a:solidFill>
                <a:latin typeface="JetBrains Mono" pitchFamily="49" charset="0"/>
                <a:ea typeface="JetBrains Mono" pitchFamily="49" charset="-122"/>
                <a:cs typeface="JetBrains Mono" pitchFamily="49" charset="-120"/>
              </a:rPr>
              <a:t>img</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border-radius</a:t>
            </a:r>
            <a:r>
              <a:rPr lang="en-US" sz="1300" dirty="0">
                <a:solidFill>
                  <a:srgbClr val="E8E6F0"/>
                </a:solidFill>
                <a:latin typeface="JetBrains Mono" pitchFamily="49" charset="0"/>
                <a:ea typeface="JetBrains Mono" pitchFamily="49" charset="-122"/>
                <a:cs typeface="JetBrains Mono" pitchFamily="49" charset="-120"/>
              </a:rPr>
              <a:t>: 8px;</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8F8BA6"/>
                </a:solidFill>
                <a:latin typeface="JetBrains Mono" pitchFamily="49" charset="0"/>
                <a:ea typeface="JetBrains Mono" pitchFamily="49" charset="-122"/>
                <a:cs typeface="JetBrains Mono" pitchFamily="49" charset="-120"/>
              </a:rPr>
              <a:t>/* imgs inside .card-content are untouched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2033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06 @scope</a:t>
            </a:r>
            <a:endParaRPr lang="en-US" sz="1200" dirty="0"/>
          </a:p>
        </p:txBody>
      </p:sp>
      <p:sp>
        <p:nvSpPr>
          <p:cNvPr id="11" name="Text 9"/>
          <p:cNvSpPr/>
          <p:nvPr/>
        </p:nvSpPr>
        <p:spPr>
          <a:xfrm>
            <a:off x="10808295" y="6238280"/>
            <a:ext cx="5709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21 / 36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Inline scopes and proximity</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@scope</a:t>
            </a:r>
            <a:r>
              <a:rPr lang="en-US" sz="1500" dirty="0">
                <a:solidFill>
                  <a:srgbClr val="3A3750"/>
                </a:solidFill>
                <a:latin typeface="Space Grotesk" pitchFamily="34" charset="0"/>
                <a:ea typeface="Space Grotesk" pitchFamily="34" charset="-122"/>
                <a:cs typeface="Space Grotesk" pitchFamily="34" charset="-120"/>
              </a:rPr>
              <a:t> with no selector scopes to the parent of its &lt;style&gt;</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Proximity: when specificity ties, the nearer scope wins</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Useful for nested light and dark themes</a:t>
            </a:r>
            <a:endParaRPr lang="en-US" sz="1500" dirty="0"/>
          </a:p>
        </p:txBody>
      </p:sp>
      <p:sp>
        <p:nvSpPr>
          <p:cNvPr id="9" name="Text 7"/>
          <p:cNvSpPr/>
          <p:nvPr/>
        </p:nvSpPr>
        <p:spPr>
          <a:xfrm>
            <a:off x="4826000" y="1584920"/>
            <a:ext cx="6553200" cy="3232150"/>
          </a:xfrm>
          <a:prstGeom prst="roundRect">
            <a:avLst>
              <a:gd name="adj" fmla="val 3929"/>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7FD6C8"/>
                </a:solidFill>
                <a:latin typeface="JetBrains Mono" pitchFamily="49" charset="0"/>
                <a:ea typeface="JetBrains Mono" pitchFamily="49" charset="-122"/>
                <a:cs typeface="JetBrains Mono" pitchFamily="49" charset="-120"/>
              </a:rPr>
              <a:t>&lt;div class="card"&gt;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7FD6C8"/>
                </a:solidFill>
                <a:latin typeface="JetBrains Mono" pitchFamily="49" charset="0"/>
                <a:ea typeface="JetBrains Mono" pitchFamily="49" charset="-122"/>
                <a:cs typeface="JetBrains Mono" pitchFamily="49" charset="-120"/>
              </a:rPr>
              <a:t>&lt;style&gt;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FFB86B"/>
                </a:solidFill>
                <a:latin typeface="JetBrains Mono" pitchFamily="49" charset="0"/>
                <a:ea typeface="JetBrains Mono" pitchFamily="49" charset="-122"/>
                <a:cs typeface="JetBrains Mono" pitchFamily="49" charset="-120"/>
              </a:rPr>
              <a:t>@scope</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p { color: #5b4cf0;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7FD6C8"/>
                </a:solidFill>
                <a:latin typeface="JetBrains Mono" pitchFamily="49" charset="0"/>
                <a:ea typeface="JetBrains Mono" pitchFamily="49" charset="-122"/>
                <a:cs typeface="JetBrains Mono" pitchFamily="49" charset="-120"/>
              </a:rPr>
              <a:t>&lt;/style&gt;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7FD6C8"/>
                </a:solidFill>
                <a:latin typeface="JetBrains Mono" pitchFamily="49" charset="0"/>
                <a:ea typeface="JetBrains Mono" pitchFamily="49" charset="-122"/>
                <a:cs typeface="JetBrains Mono" pitchFamily="49" charset="-120"/>
              </a:rPr>
              <a:t>&lt;p&gt;Only this card is affected&lt;/p&gt;</a:t>
            </a:r>
            <a:endParaRPr lang="en-US" sz="1300" dirty="0"/>
          </a:p>
          <a:p>
            <a:pPr algn="l" indent="0" marL="0">
              <a:lnSpc>
                <a:spcPts val="1950"/>
              </a:lnSpc>
              <a:buNone/>
            </a:pPr>
            <a:r>
              <a:rPr lang="en-US" sz="1300" dirty="0">
                <a:solidFill>
                  <a:srgbClr val="7FD6C8"/>
                </a:solidFill>
                <a:latin typeface="JetBrains Mono" pitchFamily="49" charset="0"/>
                <a:ea typeface="JetBrains Mono" pitchFamily="49" charset="-122"/>
                <a:cs typeface="JetBrains Mono" pitchFamily="49" charset="-120"/>
              </a:rPr>
              <a:t>&lt;/div&gt;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@scope (.light) { a { color: #222; }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@scope (.dark)  { a { color: #eee; } }</a:t>
            </a:r>
            <a:endParaRPr lang="en-US" sz="1300" dirty="0"/>
          </a:p>
        </p:txBody>
      </p:sp>
      <p:sp>
        <p:nvSpPr>
          <p:cNvPr id="10" name="Text 8"/>
          <p:cNvSpPr/>
          <p:nvPr/>
        </p:nvSpPr>
        <p:spPr>
          <a:xfrm>
            <a:off x="812800" y="6238280"/>
            <a:ext cx="22033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06 @scope</a:t>
            </a:r>
            <a:endParaRPr lang="en-US" sz="1200" dirty="0"/>
          </a:p>
        </p:txBody>
      </p:sp>
      <p:sp>
        <p:nvSpPr>
          <p:cNvPr id="11" name="Text 9"/>
          <p:cNvSpPr/>
          <p:nvPr/>
        </p:nvSpPr>
        <p:spPr>
          <a:xfrm>
            <a:off x="10774601" y="6238280"/>
            <a:ext cx="60459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22 / 36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07</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Modern color</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oklch(), color-mix() and light-dark(): perceptual color, mixing and theming in plain CSS.</a:t>
            </a:r>
            <a:endParaRPr lang="en-US" sz="2000" dirty="0"/>
          </a:p>
        </p:txBody>
      </p:sp>
      <p:sp>
        <p:nvSpPr>
          <p:cNvPr id="6" name="Text 4"/>
          <p:cNvSpPr/>
          <p:nvPr/>
        </p:nvSpPr>
        <p:spPr>
          <a:xfrm>
            <a:off x="812800" y="5440759"/>
            <a:ext cx="5779591"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Sass color functions and duplicated dark-mode rules</a:t>
            </a:r>
            <a:endParaRPr lang="en-US" sz="1400" dirty="0"/>
          </a:p>
        </p:txBody>
      </p:sp>
      <p:sp>
        <p:nvSpPr>
          <p:cNvPr id="7" name="Text 5"/>
          <p:cNvSpPr/>
          <p:nvPr/>
        </p:nvSpPr>
        <p:spPr>
          <a:xfrm>
            <a:off x="812800" y="6238280"/>
            <a:ext cx="2633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07 Modern color</a:t>
            </a:r>
            <a:endParaRPr lang="en-US" sz="1200" dirty="0"/>
          </a:p>
        </p:txBody>
      </p:sp>
      <p:sp>
        <p:nvSpPr>
          <p:cNvPr id="8" name="Text 6"/>
          <p:cNvSpPr/>
          <p:nvPr/>
        </p:nvSpPr>
        <p:spPr>
          <a:xfrm>
            <a:off x="10774839" y="6238280"/>
            <a:ext cx="60436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23 / 36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oklch(): lightness, chroma, hue</a:t>
            </a:r>
            <a:endParaRPr lang="en-US" sz="3200" dirty="0"/>
          </a:p>
        </p:txBody>
      </p:sp>
      <p:sp>
        <p:nvSpPr>
          <p:cNvPr id="3" name="Shape 1"/>
          <p:cNvSpPr/>
          <p:nvPr/>
        </p:nvSpPr>
        <p:spPr>
          <a:xfrm>
            <a:off x="825500" y="1584920"/>
            <a:ext cx="0" cy="317500"/>
          </a:xfrm>
          <a:prstGeom prst="line">
            <a:avLst/>
          </a:prstGeom>
          <a:noFill/>
          <a:ln w="25400">
            <a:solidFill>
              <a:srgbClr val="5B4CF0"/>
            </a:solidFill>
            <a:prstDash val="solid"/>
          </a:ln>
        </p:spPr>
      </p:sp>
      <p:sp>
        <p:nvSpPr>
          <p:cNvPr id="4" name="Text 2"/>
          <p:cNvSpPr/>
          <p:nvPr/>
        </p:nvSpPr>
        <p:spPr>
          <a:xfrm>
            <a:off x="990600" y="1610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L</a:t>
            </a:r>
            <a:r>
              <a:rPr lang="en-US" sz="1500" dirty="0">
                <a:solidFill>
                  <a:srgbClr val="3A3750"/>
                </a:solidFill>
                <a:latin typeface="Space Grotesk" pitchFamily="34" charset="0"/>
                <a:ea typeface="Space Grotesk" pitchFamily="34" charset="-122"/>
                <a:cs typeface="Space Grotesk" pitchFamily="34" charset="-120"/>
              </a:rPr>
              <a:t> lightness, </a:t>
            </a:r>
            <a:r>
              <a:rPr lang="en-US" sz="1500" b="1" dirty="0">
                <a:solidFill>
                  <a:srgbClr val="3A3750"/>
                </a:solidFill>
                <a:latin typeface="Space Grotesk" pitchFamily="34" charset="0"/>
                <a:ea typeface="Space Grotesk" pitchFamily="34" charset="-122"/>
                <a:cs typeface="Space Grotesk" pitchFamily="34" charset="-120"/>
              </a:rPr>
              <a:t>C</a:t>
            </a:r>
            <a:r>
              <a:rPr lang="en-US" sz="1500" dirty="0">
                <a:solidFill>
                  <a:srgbClr val="3A3750"/>
                </a:solidFill>
                <a:latin typeface="Space Grotesk" pitchFamily="34" charset="0"/>
                <a:ea typeface="Space Grotesk" pitchFamily="34" charset="-122"/>
                <a:cs typeface="Space Grotesk" pitchFamily="34" charset="-120"/>
              </a:rPr>
              <a:t> chroma, </a:t>
            </a:r>
            <a:r>
              <a:rPr lang="en-US" sz="1500" b="1" dirty="0">
                <a:solidFill>
                  <a:srgbClr val="3A3750"/>
                </a:solidFill>
                <a:latin typeface="Space Grotesk" pitchFamily="34" charset="0"/>
                <a:ea typeface="Space Grotesk" pitchFamily="34" charset="-122"/>
                <a:cs typeface="Space Grotesk" pitchFamily="34" charset="-120"/>
              </a:rPr>
              <a:t>H</a:t>
            </a:r>
            <a:r>
              <a:rPr lang="en-US" sz="1500" dirty="0">
                <a:solidFill>
                  <a:srgbClr val="3A3750"/>
                </a:solidFill>
                <a:latin typeface="Space Grotesk" pitchFamily="34" charset="0"/>
                <a:ea typeface="Space Grotesk" pitchFamily="34" charset="-122"/>
                <a:cs typeface="Space Grotesk" pitchFamily="34" charset="-120"/>
              </a:rPr>
              <a:t> hue</a:t>
            </a:r>
            <a:endParaRPr lang="en-US" sz="1500" dirty="0"/>
          </a:p>
        </p:txBody>
      </p:sp>
      <p:sp>
        <p:nvSpPr>
          <p:cNvPr id="5" name="Shape 3"/>
          <p:cNvSpPr/>
          <p:nvPr/>
        </p:nvSpPr>
        <p:spPr>
          <a:xfrm>
            <a:off x="825500" y="2080220"/>
            <a:ext cx="0" cy="584200"/>
          </a:xfrm>
          <a:prstGeom prst="line">
            <a:avLst/>
          </a:prstGeom>
          <a:noFill/>
          <a:ln w="25400">
            <a:solidFill>
              <a:srgbClr val="5B4CF0"/>
            </a:solidFill>
            <a:prstDash val="solid"/>
          </a:ln>
        </p:spPr>
      </p:sp>
      <p:sp>
        <p:nvSpPr>
          <p:cNvPr id="6" name="Text 4"/>
          <p:cNvSpPr/>
          <p:nvPr/>
        </p:nvSpPr>
        <p:spPr>
          <a:xfrm>
            <a:off x="990600" y="21056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Perceptually uniform: equal L looks equally light</a:t>
            </a:r>
            <a:endParaRPr lang="en-US" sz="1500" dirty="0"/>
          </a:p>
        </p:txBody>
      </p:sp>
      <p:sp>
        <p:nvSpPr>
          <p:cNvPr id="7" name="Shape 5"/>
          <p:cNvSpPr/>
          <p:nvPr/>
        </p:nvSpPr>
        <p:spPr>
          <a:xfrm>
            <a:off x="825500" y="2842220"/>
            <a:ext cx="0" cy="317500"/>
          </a:xfrm>
          <a:prstGeom prst="line">
            <a:avLst/>
          </a:prstGeom>
          <a:noFill/>
          <a:ln w="25400">
            <a:solidFill>
              <a:srgbClr val="5B4CF0"/>
            </a:solidFill>
            <a:prstDash val="solid"/>
          </a:ln>
        </p:spPr>
      </p:sp>
      <p:sp>
        <p:nvSpPr>
          <p:cNvPr id="8" name="Text 6"/>
          <p:cNvSpPr/>
          <p:nvPr/>
        </p:nvSpPr>
        <p:spPr>
          <a:xfrm>
            <a:off x="990600" y="28676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Reaches wide-gamut P3 colors</a:t>
            </a:r>
            <a:endParaRPr lang="en-US" sz="1500" dirty="0"/>
          </a:p>
        </p:txBody>
      </p:sp>
      <p:sp>
        <p:nvSpPr>
          <p:cNvPr id="9" name="Shape 7"/>
          <p:cNvSpPr/>
          <p:nvPr/>
        </p:nvSpPr>
        <p:spPr>
          <a:xfrm>
            <a:off x="825500" y="3337520"/>
            <a:ext cx="0" cy="584200"/>
          </a:xfrm>
          <a:prstGeom prst="line">
            <a:avLst/>
          </a:prstGeom>
          <a:noFill/>
          <a:ln w="25400">
            <a:solidFill>
              <a:srgbClr val="5B4CF0"/>
            </a:solidFill>
            <a:prstDash val="solid"/>
          </a:ln>
        </p:spPr>
      </p:sp>
      <p:sp>
        <p:nvSpPr>
          <p:cNvPr id="10" name="Text 8"/>
          <p:cNvSpPr/>
          <p:nvPr/>
        </p:nvSpPr>
        <p:spPr>
          <a:xfrm>
            <a:off x="990600" y="33629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Relative color syntax derives new colors</a:t>
            </a:r>
            <a:endParaRPr lang="en-US" sz="1500" dirty="0"/>
          </a:p>
        </p:txBody>
      </p:sp>
      <p:sp>
        <p:nvSpPr>
          <p:cNvPr id="11" name="Text 9"/>
          <p:cNvSpPr/>
          <p:nvPr/>
        </p:nvSpPr>
        <p:spPr>
          <a:xfrm>
            <a:off x="4826000" y="1584920"/>
            <a:ext cx="6553200" cy="2984500"/>
          </a:xfrm>
          <a:prstGeom prst="roundRect">
            <a:avLst>
              <a:gd name="adj" fmla="val 4255"/>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oklch(L C H / alpha) */</a:t>
            </a:r>
            <a:endParaRPr lang="en-US" sz="1300" dirty="0"/>
          </a:p>
          <a:p>
            <a:pPr algn="l" indent="0" marL="0">
              <a:lnSpc>
                <a:spcPts val="1950"/>
              </a:lnSpc>
              <a:buNone/>
            </a:pPr>
            <a:r>
              <a:rPr lang="en-US" sz="1300" dirty="0">
                <a:solidFill>
                  <a:srgbClr val="B3A8FF"/>
                </a:solidFill>
                <a:latin typeface="JetBrains Mono" pitchFamily="49" charset="0"/>
                <a:ea typeface="JetBrains Mono" pitchFamily="49" charset="-122"/>
                <a:cs typeface="JetBrains Mono" pitchFamily="49" charset="-120"/>
              </a:rPr>
              <a:t>--blue</a:t>
            </a:r>
            <a:r>
              <a:rPr lang="en-US" sz="1300" dirty="0">
                <a:solidFill>
                  <a:srgbClr val="E8E6F0"/>
                </a:solidFill>
                <a:latin typeface="JetBrains Mono" pitchFamily="49" charset="0"/>
                <a:ea typeface="JetBrains Mono" pitchFamily="49" charset="-122"/>
                <a:cs typeface="JetBrains Mono" pitchFamily="49" charset="-120"/>
              </a:rPr>
              <a:t>:   oklch(62% 0.19 260);</a:t>
            </a:r>
            <a:endParaRPr lang="en-US" sz="1300" dirty="0"/>
          </a:p>
          <a:p>
            <a:pPr algn="l" indent="0" marL="0">
              <a:lnSpc>
                <a:spcPts val="1950"/>
              </a:lnSpc>
              <a:buNone/>
            </a:pPr>
            <a:r>
              <a:rPr lang="en-US" sz="1300" dirty="0">
                <a:solidFill>
                  <a:srgbClr val="B3A8FF"/>
                </a:solidFill>
                <a:latin typeface="JetBrains Mono" pitchFamily="49" charset="0"/>
                <a:ea typeface="JetBrains Mono" pitchFamily="49" charset="-122"/>
                <a:cs typeface="JetBrains Mono" pitchFamily="49" charset="-120"/>
              </a:rPr>
              <a:t>--orange</a:t>
            </a:r>
            <a:r>
              <a:rPr lang="en-US" sz="1300" dirty="0">
                <a:solidFill>
                  <a:srgbClr val="E8E6F0"/>
                </a:solidFill>
                <a:latin typeface="JetBrains Mono" pitchFamily="49" charset="0"/>
                <a:ea typeface="JetBrains Mono" pitchFamily="49" charset="-122"/>
                <a:cs typeface="JetBrains Mono" pitchFamily="49" charset="-120"/>
              </a:rPr>
              <a:t>: oklch(62% 0.19 50);</a:t>
            </a:r>
            <a:endParaRPr lang="en-US" sz="1300" dirty="0"/>
          </a:p>
          <a:p>
            <a:pPr algn="l" indent="0" marL="0">
              <a:lnSpc>
                <a:spcPts val="1950"/>
              </a:lnSpc>
              <a:buNone/>
            </a:pPr>
            <a:r>
              <a:rPr lang="en-US" sz="1300" dirty="0">
                <a:solidFill>
                  <a:srgbClr val="B3A8FF"/>
                </a:solidFill>
                <a:latin typeface="JetBrains Mono" pitchFamily="49" charset="0"/>
                <a:ea typeface="JetBrains Mono" pitchFamily="49" charset="-122"/>
                <a:cs typeface="JetBrains Mono" pitchFamily="49" charset="-120"/>
              </a:rPr>
              <a:t>--green</a:t>
            </a:r>
            <a:r>
              <a:rPr lang="en-US" sz="1300" dirty="0">
                <a:solidFill>
                  <a:srgbClr val="E8E6F0"/>
                </a:solidFill>
                <a:latin typeface="JetBrains Mono" pitchFamily="49" charset="0"/>
                <a:ea typeface="JetBrains Mono" pitchFamily="49" charset="-122"/>
                <a:cs typeface="JetBrains Mono" pitchFamily="49" charset="-120"/>
              </a:rPr>
              <a:t>:  oklch(62% 0.19 150);</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relative color: a darker hover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.btn:hover</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background</a:t>
            </a:r>
            <a:r>
              <a:rPr lang="en-US" sz="1300" dirty="0">
                <a:solidFill>
                  <a:srgbClr val="E8E6F0"/>
                </a:solidFill>
                <a:latin typeface="JetBrains Mono" pitchFamily="49" charset="0"/>
                <a:ea typeface="JetBrains Mono" pitchFamily="49" charset="-122"/>
                <a:cs typeface="JetBrains Mono" pitchFamily="49" charset="-120"/>
              </a:rPr>
              <a:t>: oklch(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from var(--blue) calc(l - 0.1) c 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812800" y="6238280"/>
            <a:ext cx="2633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07 Modern color</a:t>
            </a:r>
            <a:endParaRPr lang="en-US" sz="1200" dirty="0"/>
          </a:p>
        </p:txBody>
      </p:sp>
      <p:sp>
        <p:nvSpPr>
          <p:cNvPr id="13" name="Text 11"/>
          <p:cNvSpPr/>
          <p:nvPr/>
        </p:nvSpPr>
        <p:spPr>
          <a:xfrm>
            <a:off x="10775910" y="6238280"/>
            <a:ext cx="60329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24 / 36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Mixing and theming</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color-mix()</a:t>
            </a:r>
            <a:r>
              <a:rPr lang="en-US" sz="1500" dirty="0">
                <a:solidFill>
                  <a:srgbClr val="3A3750"/>
                </a:solidFill>
                <a:latin typeface="Space Grotesk" pitchFamily="34" charset="0"/>
                <a:ea typeface="Space Grotesk" pitchFamily="34" charset="-122"/>
                <a:cs typeface="Space Grotesk" pitchFamily="34" charset="-120"/>
              </a:rPr>
              <a:t> blends two colors in a chosen space</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light-dark()</a:t>
            </a:r>
            <a:r>
              <a:rPr lang="en-US" sz="1500" dirty="0">
                <a:solidFill>
                  <a:srgbClr val="3A3750"/>
                </a:solidFill>
                <a:latin typeface="Space Grotesk" pitchFamily="34" charset="0"/>
                <a:ea typeface="Space Grotesk" pitchFamily="34" charset="-122"/>
                <a:cs typeface="Space Grotesk" pitchFamily="34" charset="-120"/>
              </a:rPr>
              <a:t> picks a value from color-scheme</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One variable per token instead of two themes</a:t>
            </a:r>
            <a:endParaRPr lang="en-US" sz="1500" dirty="0"/>
          </a:p>
        </p:txBody>
      </p:sp>
      <p:sp>
        <p:nvSpPr>
          <p:cNvPr id="9" name="Text 7"/>
          <p:cNvSpPr/>
          <p:nvPr/>
        </p:nvSpPr>
        <p:spPr>
          <a:xfrm>
            <a:off x="4826000" y="1584920"/>
            <a:ext cx="6553200" cy="3232150"/>
          </a:xfrm>
          <a:prstGeom prst="roundRect">
            <a:avLst>
              <a:gd name="adj" fmla="val 3929"/>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:root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color-scheme</a:t>
            </a:r>
            <a:r>
              <a:rPr lang="en-US" sz="1300" dirty="0">
                <a:solidFill>
                  <a:srgbClr val="E8E6F0"/>
                </a:solidFill>
                <a:latin typeface="JetBrains Mono" pitchFamily="49" charset="0"/>
                <a:ea typeface="JetBrains Mono" pitchFamily="49" charset="-122"/>
                <a:cs typeface="JetBrains Mono" pitchFamily="49" charset="-120"/>
              </a:rPr>
              <a:t>: light dark;</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--bg</a:t>
            </a:r>
            <a:r>
              <a:rPr lang="en-US" sz="1300" dirty="0">
                <a:solidFill>
                  <a:srgbClr val="E8E6F0"/>
                </a:solidFill>
                <a:latin typeface="JetBrains Mono" pitchFamily="49" charset="0"/>
                <a:ea typeface="JetBrains Mono" pitchFamily="49" charset="-122"/>
                <a:cs typeface="JetBrains Mono" pitchFamily="49" charset="-120"/>
              </a:rPr>
              <a:t>: light-dark(#fbfaf7, #14121f);</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--text</a:t>
            </a:r>
            <a:r>
              <a:rPr lang="en-US" sz="1300" dirty="0">
                <a:solidFill>
                  <a:srgbClr val="E8E6F0"/>
                </a:solidFill>
                <a:latin typeface="JetBrains Mono" pitchFamily="49" charset="0"/>
                <a:ea typeface="JetBrains Mono" pitchFamily="49" charset="-122"/>
                <a:cs typeface="JetBrains Mono" pitchFamily="49" charset="-120"/>
              </a:rPr>
              <a:t>: light-dark(#1c1a29, #ece9f5);</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.btn</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--tint</a:t>
            </a:r>
            <a:r>
              <a:rPr lang="en-US" sz="1300" dirty="0">
                <a:solidFill>
                  <a:srgbClr val="E8E6F0"/>
                </a:solidFill>
                <a:latin typeface="JetBrains Mono" pitchFamily="49" charset="0"/>
                <a:ea typeface="JetBrains Mono" pitchFamily="49" charset="-122"/>
                <a:cs typeface="JetBrains Mono" pitchFamily="49" charset="-120"/>
              </a:rPr>
              <a:t>: color-mix(in oklch, var(--brand) 80%, white);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background</a:t>
            </a:r>
            <a:r>
              <a:rPr lang="en-US" sz="1300" dirty="0">
                <a:solidFill>
                  <a:srgbClr val="E8E6F0"/>
                </a:solidFill>
                <a:latin typeface="JetBrains Mono" pitchFamily="49" charset="0"/>
                <a:ea typeface="JetBrains Mono" pitchFamily="49" charset="-122"/>
                <a:cs typeface="JetBrains Mono" pitchFamily="49" charset="-120"/>
              </a:rPr>
              <a:t>: var(--tint);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color</a:t>
            </a:r>
            <a:r>
              <a:rPr lang="en-US" sz="1300" dirty="0">
                <a:solidFill>
                  <a:srgbClr val="E8E6F0"/>
                </a:solidFill>
                <a:latin typeface="JetBrains Mono" pitchFamily="49" charset="0"/>
                <a:ea typeface="JetBrains Mono" pitchFamily="49" charset="-122"/>
                <a:cs typeface="JetBrains Mono" pitchFamily="49" charset="-120"/>
              </a:rPr>
              <a:t>: var(--text);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633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07 Modern color</a:t>
            </a:r>
            <a:endParaRPr lang="en-US" sz="1200" dirty="0"/>
          </a:p>
        </p:txBody>
      </p:sp>
      <p:sp>
        <p:nvSpPr>
          <p:cNvPr id="11" name="Text 9"/>
          <p:cNvSpPr/>
          <p:nvPr/>
        </p:nvSpPr>
        <p:spPr>
          <a:xfrm>
            <a:off x="10775315" y="6238280"/>
            <a:ext cx="60388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25 / 36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4181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08</a:t>
            </a:r>
            <a:endParaRPr lang="en-US" sz="10000" dirty="0"/>
          </a:p>
        </p:txBody>
      </p:sp>
      <p:sp>
        <p:nvSpPr>
          <p:cNvPr id="4" name="Text 2"/>
          <p:cNvSpPr/>
          <p:nvPr>
            <p:ph type="title"/>
          </p:nvPr>
        </p:nvSpPr>
        <p:spPr>
          <a:xfrm>
            <a:off x="812800" y="38913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field-sizing</a:t>
            </a:r>
            <a:endParaRPr lang="en-US" sz="6000" dirty="0"/>
          </a:p>
        </p:txBody>
      </p:sp>
      <p:sp>
        <p:nvSpPr>
          <p:cNvPr id="5" name="Text 3"/>
          <p:cNvSpPr/>
          <p:nvPr/>
        </p:nvSpPr>
        <p:spPr>
          <a:xfrm>
            <a:off x="812800" y="4894659"/>
            <a:ext cx="78486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Inputs and textareas that grow with what you type.</a:t>
            </a:r>
            <a:endParaRPr lang="en-US" sz="2000" dirty="0"/>
          </a:p>
        </p:txBody>
      </p:sp>
      <p:sp>
        <p:nvSpPr>
          <p:cNvPr id="6" name="Text 4"/>
          <p:cNvSpPr/>
          <p:nvPr/>
        </p:nvSpPr>
        <p:spPr>
          <a:xfrm>
            <a:off x="812800" y="5440759"/>
            <a:ext cx="2598341"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autosize scripts</a:t>
            </a:r>
            <a:endParaRPr lang="en-US" sz="1400" dirty="0"/>
          </a:p>
        </p:txBody>
      </p:sp>
      <p:sp>
        <p:nvSpPr>
          <p:cNvPr id="7" name="Text 5"/>
          <p:cNvSpPr/>
          <p:nvPr/>
        </p:nvSpPr>
        <p:spPr>
          <a:xfrm>
            <a:off x="812800" y="6238280"/>
            <a:ext cx="245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08 field-sizing</a:t>
            </a:r>
            <a:endParaRPr lang="en-US" sz="1200" dirty="0"/>
          </a:p>
        </p:txBody>
      </p:sp>
      <p:sp>
        <p:nvSpPr>
          <p:cNvPr id="8" name="Text 6"/>
          <p:cNvSpPr/>
          <p:nvPr/>
        </p:nvSpPr>
        <p:spPr>
          <a:xfrm>
            <a:off x="10772815" y="6238280"/>
            <a:ext cx="60638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26 / 36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One line for auto-growing fields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field-sizing: content</a:t>
            </a:r>
            <a:r>
              <a:rPr lang="en-US" sz="1500" dirty="0">
                <a:solidFill>
                  <a:srgbClr val="3A3750"/>
                </a:solidFill>
                <a:latin typeface="Space Grotesk" pitchFamily="34" charset="0"/>
                <a:ea typeface="Space Grotesk" pitchFamily="34" charset="-122"/>
                <a:cs typeface="Space Grotesk" pitchFamily="34" charset="-120"/>
              </a:rPr>
              <a:t> sizes a control to its value</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Set min and max sizes so it stays usable</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Progressive enhancement: older browsers keep a fixed size</a:t>
            </a:r>
            <a:endParaRPr lang="en-US" sz="1500" dirty="0"/>
          </a:p>
        </p:txBody>
      </p:sp>
      <p:sp>
        <p:nvSpPr>
          <p:cNvPr id="9" name="Text 7"/>
          <p:cNvSpPr/>
          <p:nvPr/>
        </p:nvSpPr>
        <p:spPr>
          <a:xfrm>
            <a:off x="4826000" y="1584920"/>
            <a:ext cx="6553200" cy="3975100"/>
          </a:xfrm>
          <a:prstGeom prst="roundRect">
            <a:avLst>
              <a:gd name="adj" fmla="val 3195"/>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textarea,</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input,</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select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field-sizing</a:t>
            </a:r>
            <a:r>
              <a:rPr lang="en-US" sz="1300" dirty="0">
                <a:solidFill>
                  <a:srgbClr val="E8E6F0"/>
                </a:solidFill>
                <a:latin typeface="JetBrains Mono" pitchFamily="49" charset="0"/>
                <a:ea typeface="JetBrains Mono" pitchFamily="49" charset="-122"/>
                <a:cs typeface="JetBrains Mono" pitchFamily="49" charset="-120"/>
              </a:rPr>
              <a:t>: content;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textarea</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min-block-size</a:t>
            </a:r>
            <a:r>
              <a:rPr lang="en-US" sz="1300" dirty="0">
                <a:solidFill>
                  <a:srgbClr val="E8E6F0"/>
                </a:solidFill>
                <a:latin typeface="JetBrains Mono" pitchFamily="49" charset="0"/>
                <a:ea typeface="JetBrains Mono" pitchFamily="49" charset="-122"/>
                <a:cs typeface="JetBrains Mono" pitchFamily="49" charset="-120"/>
              </a:rPr>
              <a:t>: 3lh;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max-block-size</a:t>
            </a:r>
            <a:r>
              <a:rPr lang="en-US" sz="1300" dirty="0">
                <a:solidFill>
                  <a:srgbClr val="E8E6F0"/>
                </a:solidFill>
                <a:latin typeface="JetBrains Mono" pitchFamily="49" charset="0"/>
                <a:ea typeface="JetBrains Mono" pitchFamily="49" charset="-122"/>
                <a:cs typeface="JetBrains Mono" pitchFamily="49" charset="-120"/>
              </a:rPr>
              <a:t>: 10lh;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input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min-inline-size</a:t>
            </a:r>
            <a:r>
              <a:rPr lang="en-US" sz="1300" dirty="0">
                <a:solidFill>
                  <a:srgbClr val="E8E6F0"/>
                </a:solidFill>
                <a:latin typeface="JetBrains Mono" pitchFamily="49" charset="0"/>
                <a:ea typeface="JetBrains Mono" pitchFamily="49" charset="-122"/>
                <a:cs typeface="JetBrains Mono" pitchFamily="49" charset="-120"/>
              </a:rPr>
              <a:t>: 10ch;</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458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08 field-sizing</a:t>
            </a:r>
            <a:endParaRPr lang="en-US" sz="1200" dirty="0"/>
          </a:p>
        </p:txBody>
      </p:sp>
      <p:sp>
        <p:nvSpPr>
          <p:cNvPr id="11" name="Text 9"/>
          <p:cNvSpPr/>
          <p:nvPr/>
        </p:nvSpPr>
        <p:spPr>
          <a:xfrm>
            <a:off x="10783054" y="6238280"/>
            <a:ext cx="5961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27 / 36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09</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Container queries</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Components that respond to the space they are given, wherever they are placed.</a:t>
            </a:r>
            <a:endParaRPr lang="en-US" sz="2000" dirty="0"/>
          </a:p>
        </p:txBody>
      </p:sp>
      <p:sp>
        <p:nvSpPr>
          <p:cNvPr id="6" name="Text 4"/>
          <p:cNvSpPr/>
          <p:nvPr/>
        </p:nvSpPr>
        <p:spPr>
          <a:xfrm>
            <a:off x="812800" y="5440759"/>
            <a:ext cx="4664869"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viewport media queries for components</a:t>
            </a:r>
            <a:endParaRPr lang="en-US" sz="1400" dirty="0"/>
          </a:p>
        </p:txBody>
      </p:sp>
      <p:sp>
        <p:nvSpPr>
          <p:cNvPr id="7" name="Text 5"/>
          <p:cNvSpPr/>
          <p:nvPr/>
        </p:nvSpPr>
        <p:spPr>
          <a:xfrm>
            <a:off x="812800" y="6238280"/>
            <a:ext cx="30370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09 Container queries</a:t>
            </a:r>
            <a:endParaRPr lang="en-US" sz="1200" dirty="0"/>
          </a:p>
        </p:txBody>
      </p:sp>
      <p:sp>
        <p:nvSpPr>
          <p:cNvPr id="8" name="Text 6"/>
          <p:cNvSpPr/>
          <p:nvPr/>
        </p:nvSpPr>
        <p:spPr>
          <a:xfrm>
            <a:off x="10770910" y="6238280"/>
            <a:ext cx="60829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28 / 36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Query the container, not the screen</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container-type</a:t>
            </a:r>
            <a:r>
              <a:rPr lang="en-US" sz="1500" dirty="0">
                <a:solidFill>
                  <a:srgbClr val="3A3750"/>
                </a:solidFill>
                <a:latin typeface="Space Grotesk" pitchFamily="34" charset="0"/>
                <a:ea typeface="Space Grotesk" pitchFamily="34" charset="-122"/>
                <a:cs typeface="Space Grotesk" pitchFamily="34" charset="-120"/>
              </a:rPr>
              <a:t> makes an element queryable</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@container</a:t>
            </a:r>
            <a:r>
              <a:rPr lang="en-US" sz="1500" dirty="0">
                <a:solidFill>
                  <a:srgbClr val="3A3750"/>
                </a:solidFill>
                <a:latin typeface="Space Grotesk" pitchFamily="34" charset="0"/>
                <a:ea typeface="Space Grotesk" pitchFamily="34" charset="-122"/>
                <a:cs typeface="Space Grotesk" pitchFamily="34" charset="-120"/>
              </a:rPr>
              <a:t> queries its nearest container</a:t>
            </a:r>
            <a:endParaRPr lang="en-US" sz="1500" dirty="0"/>
          </a:p>
        </p:txBody>
      </p:sp>
      <p:sp>
        <p:nvSpPr>
          <p:cNvPr id="7" name="Shape 5"/>
          <p:cNvSpPr/>
          <p:nvPr/>
        </p:nvSpPr>
        <p:spPr>
          <a:xfrm>
            <a:off x="825500" y="3108920"/>
            <a:ext cx="0" cy="584200"/>
          </a:xfrm>
          <a:prstGeom prst="line">
            <a:avLst/>
          </a:prstGeom>
          <a:noFill/>
          <a:ln w="25400">
            <a:solidFill>
              <a:srgbClr val="5B4CF0"/>
            </a:solidFill>
            <a:prstDash val="solid"/>
          </a:ln>
        </p:spPr>
      </p:sp>
      <p:sp>
        <p:nvSpPr>
          <p:cNvPr id="8" name="Text 6"/>
          <p:cNvSpPr/>
          <p:nvPr/>
        </p:nvSpPr>
        <p:spPr>
          <a:xfrm>
            <a:off x="990600" y="3134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Name containers to target a specific one</a:t>
            </a:r>
            <a:endParaRPr lang="en-US" sz="1500" dirty="0"/>
          </a:p>
        </p:txBody>
      </p:sp>
      <p:sp>
        <p:nvSpPr>
          <p:cNvPr id="9" name="Shape 7"/>
          <p:cNvSpPr/>
          <p:nvPr/>
        </p:nvSpPr>
        <p:spPr>
          <a:xfrm>
            <a:off x="825500" y="3870920"/>
            <a:ext cx="0" cy="584200"/>
          </a:xfrm>
          <a:prstGeom prst="line">
            <a:avLst/>
          </a:prstGeom>
          <a:noFill/>
          <a:ln w="25400">
            <a:solidFill>
              <a:srgbClr val="5B4CF0"/>
            </a:solidFill>
            <a:prstDash val="solid"/>
          </a:ln>
        </p:spPr>
      </p:sp>
      <p:sp>
        <p:nvSpPr>
          <p:cNvPr id="10" name="Text 8"/>
          <p:cNvSpPr/>
          <p:nvPr/>
        </p:nvSpPr>
        <p:spPr>
          <a:xfrm>
            <a:off x="990600" y="3896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cqi</a:t>
            </a:r>
            <a:r>
              <a:rPr lang="en-US" sz="1500" dirty="0">
                <a:solidFill>
                  <a:srgbClr val="3A3750"/>
                </a:solidFill>
                <a:latin typeface="Space Grotesk" pitchFamily="34" charset="0"/>
                <a:ea typeface="Space Grotesk" pitchFamily="34" charset="-122"/>
                <a:cs typeface="Space Grotesk" pitchFamily="34" charset="-120"/>
              </a:rPr>
              <a:t> units are a % of the container's width</a:t>
            </a:r>
            <a:endParaRPr lang="en-US" sz="1500" dirty="0"/>
          </a:p>
        </p:txBody>
      </p:sp>
      <p:sp>
        <p:nvSpPr>
          <p:cNvPr id="11" name="Text 9"/>
          <p:cNvSpPr/>
          <p:nvPr/>
        </p:nvSpPr>
        <p:spPr>
          <a:xfrm>
            <a:off x="4826000" y="1584920"/>
            <a:ext cx="6553200" cy="3727450"/>
          </a:xfrm>
          <a:prstGeom prst="roundRect">
            <a:avLst>
              <a:gd name="adj" fmla="val 3407"/>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.card-wrap</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container</a:t>
            </a:r>
            <a:r>
              <a:rPr lang="en-US" sz="1300" dirty="0">
                <a:solidFill>
                  <a:srgbClr val="E8E6F0"/>
                </a:solidFill>
                <a:latin typeface="JetBrains Mono" pitchFamily="49" charset="0"/>
                <a:ea typeface="JetBrains Mono" pitchFamily="49" charset="-122"/>
                <a:cs typeface="JetBrains Mono" pitchFamily="49" charset="-120"/>
              </a:rPr>
              <a:t>: card / inline-size;</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@container card (width &gt; 450px)</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FFB86B"/>
                </a:solidFill>
                <a:latin typeface="JetBrains Mono" pitchFamily="49" charset="0"/>
                <a:ea typeface="JetBrains Mono" pitchFamily="49" charset="-122"/>
                <a:cs typeface="JetBrains Mono" pitchFamily="49" charset="-120"/>
              </a:rPr>
              <a:t>.card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grid-template-columns</a:t>
            </a:r>
            <a:r>
              <a:rPr lang="en-US" sz="1300" dirty="0">
                <a:solidFill>
                  <a:srgbClr val="E8E6F0"/>
                </a:solidFill>
                <a:latin typeface="JetBrains Mono" pitchFamily="49" charset="0"/>
                <a:ea typeface="JetBrains Mono" pitchFamily="49" charset="-122"/>
                <a:cs typeface="JetBrains Mono" pitchFamily="49" charset="-120"/>
              </a:rPr>
              <a:t>: 180px 1fr;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 h2</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font-size</a:t>
            </a:r>
            <a:r>
              <a:rPr lang="en-US" sz="1300" dirty="0">
                <a:solidFill>
                  <a:srgbClr val="E8E6F0"/>
                </a:solidFill>
                <a:latin typeface="JetBrains Mono" pitchFamily="49" charset="0"/>
                <a:ea typeface="JetBrains Mono" pitchFamily="49" charset="-122"/>
                <a:cs typeface="JetBrains Mono" pitchFamily="49" charset="-120"/>
              </a:rPr>
              <a:t>: clamp(1.25rem, 5cqi, 2rem);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2" name="Text 10"/>
          <p:cNvSpPr/>
          <p:nvPr/>
        </p:nvSpPr>
        <p:spPr>
          <a:xfrm>
            <a:off x="812800" y="6238280"/>
            <a:ext cx="30370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09 Container queries</a:t>
            </a:r>
            <a:endParaRPr lang="en-US" sz="1200" dirty="0"/>
          </a:p>
        </p:txBody>
      </p:sp>
      <p:sp>
        <p:nvSpPr>
          <p:cNvPr id="13" name="Text 11"/>
          <p:cNvSpPr/>
          <p:nvPr/>
        </p:nvSpPr>
        <p:spPr>
          <a:xfrm>
            <a:off x="10773291" y="6238280"/>
            <a:ext cx="60590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29 / 36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Media queries and container queries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196207"/>
        </p:xfrm>
        <a:graphic>
          <a:graphicData uri="http://schemas.openxmlformats.org/drawingml/2006/table">
            <a:tbl>
              <a:tblPr/>
              <a:tblGrid>
                <a:gridCol w="2532888"/>
                <a:gridCol w="4010406"/>
                <a:gridCol w="4010406"/>
              </a:tblGrid>
              <a:tr h="439241">
                <a:tc>
                  <a:txBody>
                    <a:bodyPr/>
                    <a:lstStyle/>
                    <a:p>
                      <a:pPr indent="0" marL="0">
                        <a:lnSpc>
                          <a:spcPts val="2240"/>
                        </a:lnSpc>
                        <a:buNone/>
                      </a:pP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2240"/>
                        </a:lnSpc>
                        <a:buNone/>
                      </a:pPr>
                      <a:r>
                        <a:rPr lang="en-US" sz="1600" b="1" dirty="0">
                          <a:solidFill>
                            <a:srgbClr val="1C1A29"/>
                          </a:solidFill>
                          <a:latin typeface="Space Grotesk" pitchFamily="34" charset="0"/>
                          <a:ea typeface="Space Grotesk" pitchFamily="34" charset="-122"/>
                          <a:cs typeface="Space Grotesk" pitchFamily="34" charset="-120"/>
                        </a:rPr>
                        <a:t>Media query</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2240"/>
                        </a:lnSpc>
                        <a:buNone/>
                      </a:pPr>
                      <a:r>
                        <a:rPr lang="en-US" sz="1600" b="1" dirty="0">
                          <a:solidFill>
                            <a:srgbClr val="1C1A29"/>
                          </a:solidFill>
                          <a:latin typeface="Space Grotesk" pitchFamily="34" charset="0"/>
                          <a:ea typeface="Space Grotesk" pitchFamily="34" charset="-122"/>
                          <a:cs typeface="Space Grotesk" pitchFamily="34" charset="-120"/>
                        </a:rPr>
                        <a:t>Container query</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r>
              <a:tr h="439241">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Measures</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The viewport</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The nearest container</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Best for</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Page layout</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Reusable components</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Units</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vw, vh</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cqi, cqb</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39241">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Setup</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None</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240"/>
                        </a:lnSpc>
                        <a:buNone/>
                      </a:pPr>
                      <a:r>
                        <a:rPr lang="en-US" sz="1600" dirty="0">
                          <a:solidFill>
                            <a:srgbClr val="1C1A29"/>
                          </a:solidFill>
                          <a:latin typeface="Space Grotesk" pitchFamily="34" charset="0"/>
                          <a:ea typeface="Space Grotesk" pitchFamily="34" charset="-122"/>
                          <a:cs typeface="Space Grotesk" pitchFamily="34" charset="-120"/>
                        </a:rPr>
                        <a:t>container-type on a parent</a:t>
                      </a:r>
                      <a:endParaRPr lang="en-US" sz="1600" dirty="0">
                        <a:latin typeface="Space Grotesk" charset="0"/>
                        <a:ea typeface="Space Grotesk" charset="0"/>
                        <a:cs typeface="Space Grotesk" charset="0"/>
                      </a:endParaRPr>
                    </a:p>
                  </a:txBody>
                  <a:tcPr marL="71120" marR="71120" marT="71120" marB="71120"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bl>
          </a:graphicData>
        </a:graphic>
      </p:graphicFrame>
      <p:sp>
        <p:nvSpPr>
          <p:cNvPr id="4" name="Shape 1"/>
          <p:cNvSpPr/>
          <p:nvPr/>
        </p:nvSpPr>
        <p:spPr>
          <a:xfrm>
            <a:off x="825500" y="4098627"/>
            <a:ext cx="0" cy="317500"/>
          </a:xfrm>
          <a:prstGeom prst="line">
            <a:avLst/>
          </a:prstGeom>
          <a:noFill/>
          <a:ln w="25400">
            <a:solidFill>
              <a:srgbClr val="FF9A3C"/>
            </a:solidFill>
            <a:prstDash val="solid"/>
          </a:ln>
        </p:spPr>
      </p:sp>
      <p:sp>
        <p:nvSpPr>
          <p:cNvPr id="5" name="Text 2"/>
          <p:cNvSpPr/>
          <p:nvPr/>
        </p:nvSpPr>
        <p:spPr>
          <a:xfrm>
            <a:off x="990600" y="4124027"/>
            <a:ext cx="1070025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Rule of thumb: media queries for the page, container queries for the parts.</a:t>
            </a:r>
            <a:endParaRPr lang="en-US" sz="1500" dirty="0"/>
          </a:p>
        </p:txBody>
      </p:sp>
      <p:sp>
        <p:nvSpPr>
          <p:cNvPr id="6" name="Text 3"/>
          <p:cNvSpPr/>
          <p:nvPr/>
        </p:nvSpPr>
        <p:spPr>
          <a:xfrm>
            <a:off x="812800" y="6238280"/>
            <a:ext cx="30370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09 Container queries</a:t>
            </a:r>
            <a:endParaRPr lang="en-US" sz="1200" dirty="0"/>
          </a:p>
        </p:txBody>
      </p:sp>
      <p:sp>
        <p:nvSpPr>
          <p:cNvPr id="7" name="Text 4"/>
          <p:cNvSpPr/>
          <p:nvPr/>
        </p:nvSpPr>
        <p:spPr>
          <a:xfrm>
            <a:off x="10767219" y="6238280"/>
            <a:ext cx="61198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30 / 36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807200" y="609600"/>
            <a:ext cx="4572000" cy="4572000"/>
          </a:xfrm>
          <a:prstGeom prst="roundRect">
            <a:avLst>
              <a:gd name="adj" fmla="val 35556"/>
            </a:avLst>
          </a:prstGeom>
          <a:gradFill rotWithShape="1">
            <a:gsLst>
              <a:gs pos="0">
                <a:srgbClr val="5B4CF0">
                  <a:alpha val="55000"/>
                </a:srgbClr>
              </a:gs>
              <a:gs pos="70000">
                <a:srgbClr val="14121F">
                  <a:alpha val="55000"/>
                </a:srgbClr>
              </a:gs>
            </a:gsLst>
            <a:path path="circle">
              <a:fillToRect l="50000" t="50000" r="50000" b="50000"/>
            </a:path>
          </a:gradFill>
          <a:ln/>
        </p:spPr>
      </p:sp>
      <p:sp>
        <p:nvSpPr>
          <p:cNvPr id="3" name="Text 1"/>
          <p:cNvSpPr/>
          <p:nvPr/>
        </p:nvSpPr>
        <p:spPr>
          <a:xfrm>
            <a:off x="812800" y="2075259"/>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F9A3C"/>
                </a:solidFill>
                <a:latin typeface="Space Grotesk" pitchFamily="34" charset="0"/>
                <a:ea typeface="Space Grotesk" pitchFamily="34" charset="-122"/>
                <a:cs typeface="Space Grotesk" pitchFamily="34" charset="-120"/>
              </a:rPr>
              <a:t>10</a:t>
            </a:r>
            <a:endParaRPr lang="en-US" sz="10000" dirty="0"/>
          </a:p>
        </p:txBody>
      </p:sp>
      <p:sp>
        <p:nvSpPr>
          <p:cNvPr id="4" name="Text 2"/>
          <p:cNvSpPr/>
          <p:nvPr>
            <p:ph type="title"/>
          </p:nvPr>
        </p:nvSpPr>
        <p:spPr>
          <a:xfrm>
            <a:off x="812800" y="354845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CE9F5"/>
                </a:solidFill>
                <a:latin typeface="Space Grotesk" pitchFamily="34" charset="0"/>
                <a:ea typeface="Space Grotesk" pitchFamily="34" charset="-122"/>
                <a:cs typeface="Space Grotesk" pitchFamily="34" charset="-120"/>
              </a:rPr>
              <a:t>Grid &amp; subgrid</a:t>
            </a:r>
            <a:endParaRPr lang="en-US" sz="6000" dirty="0"/>
          </a:p>
        </p:txBody>
      </p:sp>
      <p:sp>
        <p:nvSpPr>
          <p:cNvPr id="5" name="Text 3"/>
          <p:cNvSpPr/>
          <p:nvPr/>
        </p:nvSpPr>
        <p:spPr>
          <a:xfrm>
            <a:off x="812800" y="4551759"/>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B4CC"/>
                </a:solidFill>
                <a:latin typeface="Space Grotesk" pitchFamily="34" charset="0"/>
                <a:ea typeface="Space Grotesk" pitchFamily="34" charset="-122"/>
                <a:cs typeface="Space Grotesk" pitchFamily="34" charset="-120"/>
              </a:rPr>
              <a:t>Two-dimensional layout, and children that line up across siblings.</a:t>
            </a:r>
            <a:endParaRPr lang="en-US" sz="2000" dirty="0"/>
          </a:p>
        </p:txBody>
      </p:sp>
      <p:sp>
        <p:nvSpPr>
          <p:cNvPr id="6" name="Text 4"/>
          <p:cNvSpPr/>
          <p:nvPr/>
        </p:nvSpPr>
        <p:spPr>
          <a:xfrm>
            <a:off x="812800" y="5440759"/>
            <a:ext cx="3975298" cy="401241"/>
          </a:xfrm>
          <a:prstGeom prst="roundRect">
            <a:avLst>
              <a:gd name="adj" fmla="val 50000"/>
            </a:avLst>
          </a:prstGeom>
          <a:solidFill>
            <a:srgbClr val="2A2740"/>
          </a:solidFill>
          <a:ln/>
        </p:spPr>
        <p:txBody>
          <a:bodyPr wrap="none" lIns="0" tIns="0" rIns="0" bIns="0" rtlCol="0" anchor="ctr">
            <a:normAutofit/>
          </a:bodyPr>
          <a:lstStyle/>
          <a:p>
            <a:pPr algn="ctr" indent="0" marL="0">
              <a:lnSpc>
                <a:spcPts val="1960"/>
              </a:lnSpc>
              <a:buNone/>
            </a:pPr>
            <a:r>
              <a:rPr lang="en-US" sz="1400" dirty="0">
                <a:solidFill>
                  <a:srgbClr val="FFB86B"/>
                </a:solidFill>
                <a:latin typeface="Space Grotesk" pitchFamily="34" charset="0"/>
                <a:ea typeface="Space Grotesk" pitchFamily="34" charset="-122"/>
                <a:cs typeface="Space Grotesk" pitchFamily="34" charset="-120"/>
              </a:rPr>
              <a:t>Replaces: flexbox hacks and fixed heights</a:t>
            </a:r>
            <a:endParaRPr lang="en-US" sz="1400" dirty="0"/>
          </a:p>
        </p:txBody>
      </p:sp>
      <p:sp>
        <p:nvSpPr>
          <p:cNvPr id="7" name="Text 5"/>
          <p:cNvSpPr/>
          <p:nvPr/>
        </p:nvSpPr>
        <p:spPr>
          <a:xfrm>
            <a:off x="812800" y="6238280"/>
            <a:ext cx="2667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10 Grid &amp; subgrid</a:t>
            </a:r>
            <a:endParaRPr lang="en-US" sz="1200" dirty="0"/>
          </a:p>
        </p:txBody>
      </p:sp>
      <p:sp>
        <p:nvSpPr>
          <p:cNvPr id="8" name="Text 6"/>
          <p:cNvSpPr/>
          <p:nvPr/>
        </p:nvSpPr>
        <p:spPr>
          <a:xfrm>
            <a:off x="10810677" y="6238280"/>
            <a:ext cx="5685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31 / 36</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Responsive grids without media queries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repeat(auto-fit, minmax())</a:t>
            </a:r>
            <a:r>
              <a:rPr lang="en-US" sz="1500" dirty="0">
                <a:solidFill>
                  <a:srgbClr val="3A3750"/>
                </a:solidFill>
                <a:latin typeface="Space Grotesk" pitchFamily="34" charset="0"/>
                <a:ea typeface="Space Grotesk" pitchFamily="34" charset="-122"/>
                <a:cs typeface="Space Grotesk" pitchFamily="34" charset="-120"/>
              </a:rPr>
              <a:t> wraps columns by available space</a:t>
            </a:r>
            <a:endParaRPr lang="en-US" sz="1500" dirty="0"/>
          </a:p>
        </p:txBody>
      </p:sp>
      <p:sp>
        <p:nvSpPr>
          <p:cNvPr id="5" name="Shape 3"/>
          <p:cNvSpPr/>
          <p:nvPr/>
        </p:nvSpPr>
        <p:spPr>
          <a:xfrm>
            <a:off x="825500" y="2346920"/>
            <a:ext cx="0" cy="317500"/>
          </a:xfrm>
          <a:prstGeom prst="line">
            <a:avLst/>
          </a:prstGeom>
          <a:noFill/>
          <a:ln w="25400">
            <a:solidFill>
              <a:srgbClr val="5B4CF0"/>
            </a:solidFill>
            <a:prstDash val="solid"/>
          </a:ln>
        </p:spPr>
      </p:sp>
      <p:sp>
        <p:nvSpPr>
          <p:cNvPr id="6" name="Text 4"/>
          <p:cNvSpPr/>
          <p:nvPr/>
        </p:nvSpPr>
        <p:spPr>
          <a:xfrm>
            <a:off x="990600" y="2372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fr</a:t>
            </a:r>
            <a:r>
              <a:rPr lang="en-US" sz="1500" dirty="0">
                <a:solidFill>
                  <a:srgbClr val="3A3750"/>
                </a:solidFill>
                <a:latin typeface="Space Grotesk" pitchFamily="34" charset="0"/>
                <a:ea typeface="Space Grotesk" pitchFamily="34" charset="-122"/>
                <a:cs typeface="Space Grotesk" pitchFamily="34" charset="-120"/>
              </a:rPr>
              <a:t> units share the free space</a:t>
            </a:r>
            <a:endParaRPr lang="en-US" sz="1500" dirty="0"/>
          </a:p>
        </p:txBody>
      </p:sp>
      <p:sp>
        <p:nvSpPr>
          <p:cNvPr id="7" name="Shape 5"/>
          <p:cNvSpPr/>
          <p:nvPr/>
        </p:nvSpPr>
        <p:spPr>
          <a:xfrm>
            <a:off x="825500" y="2842220"/>
            <a:ext cx="0" cy="317500"/>
          </a:xfrm>
          <a:prstGeom prst="line">
            <a:avLst/>
          </a:prstGeom>
          <a:noFill/>
          <a:ln w="25400">
            <a:solidFill>
              <a:srgbClr val="5B4CF0"/>
            </a:solidFill>
            <a:prstDash val="solid"/>
          </a:ln>
        </p:spPr>
      </p:sp>
      <p:sp>
        <p:nvSpPr>
          <p:cNvPr id="8" name="Text 6"/>
          <p:cNvSpPr/>
          <p:nvPr/>
        </p:nvSpPr>
        <p:spPr>
          <a:xfrm>
            <a:off x="990600" y="28676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grid-template-areas</a:t>
            </a:r>
            <a:r>
              <a:rPr lang="en-US" sz="1500" dirty="0">
                <a:solidFill>
                  <a:srgbClr val="3A3750"/>
                </a:solidFill>
                <a:latin typeface="Space Grotesk" pitchFamily="34" charset="0"/>
                <a:ea typeface="Space Grotesk" pitchFamily="34" charset="-122"/>
                <a:cs typeface="Space Grotesk" pitchFamily="34" charset="-120"/>
              </a:rPr>
              <a:t> names regions</a:t>
            </a:r>
            <a:endParaRPr lang="en-US" sz="1500" dirty="0"/>
          </a:p>
        </p:txBody>
      </p:sp>
      <p:sp>
        <p:nvSpPr>
          <p:cNvPr id="9" name="Text 7"/>
          <p:cNvSpPr/>
          <p:nvPr/>
        </p:nvSpPr>
        <p:spPr>
          <a:xfrm>
            <a:off x="4826000" y="1584920"/>
            <a:ext cx="6553200" cy="3975100"/>
          </a:xfrm>
          <a:prstGeom prst="roundRect">
            <a:avLst>
              <a:gd name="adj" fmla="val 3195"/>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.gallery</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display</a:t>
            </a:r>
            <a:r>
              <a:rPr lang="en-US" sz="1300" dirty="0">
                <a:solidFill>
                  <a:srgbClr val="E8E6F0"/>
                </a:solidFill>
                <a:latin typeface="JetBrains Mono" pitchFamily="49" charset="0"/>
                <a:ea typeface="JetBrains Mono" pitchFamily="49" charset="-122"/>
                <a:cs typeface="JetBrains Mono" pitchFamily="49" charset="-120"/>
              </a:rPr>
              <a:t>: grid;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grid-template-columns:</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repeat(auto-fit, minmax(16rem, 1fr));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gap</a:t>
            </a:r>
            <a:r>
              <a:rPr lang="en-US" sz="1300" dirty="0">
                <a:solidFill>
                  <a:srgbClr val="E8E6F0"/>
                </a:solidFill>
                <a:latin typeface="JetBrains Mono" pitchFamily="49" charset="0"/>
                <a:ea typeface="JetBrains Mono" pitchFamily="49" charset="-122"/>
                <a:cs typeface="JetBrains Mono" pitchFamily="49" charset="-120"/>
              </a:rPr>
              <a:t>: 1.5rem;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.layout</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display</a:t>
            </a:r>
            <a:r>
              <a:rPr lang="en-US" sz="1300" dirty="0">
                <a:solidFill>
                  <a:srgbClr val="E8E6F0"/>
                </a:solidFill>
                <a:latin typeface="JetBrains Mono" pitchFamily="49" charset="0"/>
                <a:ea typeface="JetBrains Mono" pitchFamily="49" charset="-122"/>
                <a:cs typeface="JetBrains Mono" pitchFamily="49" charset="-120"/>
              </a:rPr>
              <a:t>: grid;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grid-template-areas:</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"header header"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"nav    main";</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grid-template-columns</a:t>
            </a:r>
            <a:r>
              <a:rPr lang="en-US" sz="1300" dirty="0">
                <a:solidFill>
                  <a:srgbClr val="E8E6F0"/>
                </a:solidFill>
                <a:latin typeface="JetBrains Mono" pitchFamily="49" charset="0"/>
                <a:ea typeface="JetBrains Mono" pitchFamily="49" charset="-122"/>
                <a:cs typeface="JetBrains Mono" pitchFamily="49" charset="-120"/>
              </a:rPr>
              <a:t>: 240px 1fr;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812800" y="6238280"/>
            <a:ext cx="2667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10 Grid &amp; subgrid</a:t>
            </a:r>
            <a:endParaRPr lang="en-US" sz="1200" dirty="0"/>
          </a:p>
        </p:txBody>
      </p:sp>
      <p:sp>
        <p:nvSpPr>
          <p:cNvPr id="11" name="Text 9"/>
          <p:cNvSpPr/>
          <p:nvPr/>
        </p:nvSpPr>
        <p:spPr>
          <a:xfrm>
            <a:off x="10774243" y="6238280"/>
            <a:ext cx="6049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32 / 36</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subgrid: line up across cards</a:t>
            </a:r>
            <a:endParaRPr lang="en-US" sz="3200" dirty="0"/>
          </a:p>
        </p:txBody>
      </p:sp>
      <p:sp>
        <p:nvSpPr>
          <p:cNvPr id="3" name="Shape 1"/>
          <p:cNvSpPr/>
          <p:nvPr/>
        </p:nvSpPr>
        <p:spPr>
          <a:xfrm>
            <a:off x="825500" y="1584920"/>
            <a:ext cx="0" cy="584200"/>
          </a:xfrm>
          <a:prstGeom prst="line">
            <a:avLst/>
          </a:prstGeom>
          <a:noFill/>
          <a:ln w="25400">
            <a:solidFill>
              <a:srgbClr val="5B4CF0"/>
            </a:solidFill>
            <a:prstDash val="solid"/>
          </a:ln>
        </p:spPr>
      </p:sp>
      <p:sp>
        <p:nvSpPr>
          <p:cNvPr id="4" name="Text 2"/>
          <p:cNvSpPr/>
          <p:nvPr/>
        </p:nvSpPr>
        <p:spPr>
          <a:xfrm>
            <a:off x="990600" y="1610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3750"/>
                </a:solidFill>
                <a:latin typeface="Space Grotesk" pitchFamily="34" charset="0"/>
                <a:ea typeface="Space Grotesk" pitchFamily="34" charset="-122"/>
                <a:cs typeface="Space Grotesk" pitchFamily="34" charset="-120"/>
              </a:rPr>
              <a:t>subgrid</a:t>
            </a:r>
            <a:r>
              <a:rPr lang="en-US" sz="1500" dirty="0">
                <a:solidFill>
                  <a:srgbClr val="3A3750"/>
                </a:solidFill>
                <a:latin typeface="Space Grotesk" pitchFamily="34" charset="0"/>
                <a:ea typeface="Space Grotesk" pitchFamily="34" charset="-122"/>
                <a:cs typeface="Space Grotesk" pitchFamily="34" charset="-120"/>
              </a:rPr>
              <a:t> lets a child reuse its parent's tracks</a:t>
            </a:r>
            <a:endParaRPr lang="en-US" sz="1500" dirty="0"/>
          </a:p>
        </p:txBody>
      </p:sp>
      <p:sp>
        <p:nvSpPr>
          <p:cNvPr id="5" name="Shape 3"/>
          <p:cNvSpPr/>
          <p:nvPr/>
        </p:nvSpPr>
        <p:spPr>
          <a:xfrm>
            <a:off x="825500" y="2346920"/>
            <a:ext cx="0" cy="584200"/>
          </a:xfrm>
          <a:prstGeom prst="line">
            <a:avLst/>
          </a:prstGeom>
          <a:noFill/>
          <a:ln w="25400">
            <a:solidFill>
              <a:srgbClr val="5B4CF0"/>
            </a:solidFill>
            <a:prstDash val="solid"/>
          </a:ln>
        </p:spPr>
      </p:sp>
      <p:sp>
        <p:nvSpPr>
          <p:cNvPr id="6" name="Text 4"/>
          <p:cNvSpPr/>
          <p:nvPr/>
        </p:nvSpPr>
        <p:spPr>
          <a:xfrm>
            <a:off x="990600" y="2372320"/>
            <a:ext cx="34795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Titles, bodies and buttons align across a row</a:t>
            </a:r>
            <a:endParaRPr lang="en-US" sz="1500" dirty="0"/>
          </a:p>
        </p:txBody>
      </p:sp>
      <p:sp>
        <p:nvSpPr>
          <p:cNvPr id="7" name="Shape 5"/>
          <p:cNvSpPr/>
          <p:nvPr/>
        </p:nvSpPr>
        <p:spPr>
          <a:xfrm>
            <a:off x="825500" y="3108920"/>
            <a:ext cx="0" cy="317500"/>
          </a:xfrm>
          <a:prstGeom prst="line">
            <a:avLst/>
          </a:prstGeom>
          <a:noFill/>
          <a:ln w="25400">
            <a:solidFill>
              <a:srgbClr val="5B4CF0"/>
            </a:solidFill>
            <a:prstDash val="solid"/>
          </a:ln>
        </p:spPr>
      </p:sp>
      <p:sp>
        <p:nvSpPr>
          <p:cNvPr id="8" name="Text 6"/>
          <p:cNvSpPr/>
          <p:nvPr/>
        </p:nvSpPr>
        <p:spPr>
          <a:xfrm>
            <a:off x="990600" y="3134320"/>
            <a:ext cx="34795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750"/>
                </a:solidFill>
                <a:latin typeface="Space Grotesk" pitchFamily="34" charset="0"/>
                <a:ea typeface="Space Grotesk" pitchFamily="34" charset="-122"/>
                <a:cs typeface="Space Grotesk" pitchFamily="34" charset="-120"/>
              </a:rPr>
              <a:t>Works for rows, columns or both</a:t>
            </a:r>
            <a:endParaRPr lang="en-US" sz="1500" dirty="0"/>
          </a:p>
        </p:txBody>
      </p:sp>
      <p:sp>
        <p:nvSpPr>
          <p:cNvPr id="9" name="Text 7"/>
          <p:cNvSpPr/>
          <p:nvPr/>
        </p:nvSpPr>
        <p:spPr>
          <a:xfrm>
            <a:off x="4826000" y="1584920"/>
            <a:ext cx="6553200" cy="3479800"/>
          </a:xfrm>
          <a:prstGeom prst="roundRect">
            <a:avLst>
              <a:gd name="adj" fmla="val 3650"/>
            </a:avLst>
          </a:prstGeom>
          <a:solidFill>
            <a:srgbClr val="1B1A26"/>
          </a:solidFill>
          <a:ln/>
        </p:spPr>
        <p:txBody>
          <a:bodyPr wrap="none" lIns="242203" tIns="204103" rIns="62371" bIns="204103" rtlCol="0" anchor="ctr">
            <a:normAutofit/>
          </a:bodyPr>
          <a:lstStyle/>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.cards</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display</a:t>
            </a:r>
            <a:r>
              <a:rPr lang="en-US" sz="1300" dirty="0">
                <a:solidFill>
                  <a:srgbClr val="E8E6F0"/>
                </a:solidFill>
                <a:latin typeface="JetBrains Mono" pitchFamily="49" charset="0"/>
                <a:ea typeface="JetBrains Mono" pitchFamily="49" charset="-122"/>
                <a:cs typeface="JetBrains Mono" pitchFamily="49" charset="-120"/>
              </a:rPr>
              <a:t>: grid;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grid-template-columns</a:t>
            </a:r>
            <a:r>
              <a:rPr lang="en-US" sz="1300" dirty="0">
                <a:solidFill>
                  <a:srgbClr val="E8E6F0"/>
                </a:solidFill>
                <a:latin typeface="JetBrains Mono" pitchFamily="49" charset="0"/>
                <a:ea typeface="JetBrains Mono" pitchFamily="49" charset="-122"/>
                <a:cs typeface="JetBrains Mono" pitchFamily="49" charset="-120"/>
              </a:rPr>
              <a:t>: repeat(3, 1fr);</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gap</a:t>
            </a:r>
            <a:r>
              <a:rPr lang="en-US" sz="1300" dirty="0">
                <a:solidFill>
                  <a:srgbClr val="E8E6F0"/>
                </a:solidFill>
                <a:latin typeface="JetBrains Mono" pitchFamily="49" charset="0"/>
                <a:ea typeface="JetBrains Mono" pitchFamily="49" charset="-122"/>
                <a:cs typeface="JetBrains Mono" pitchFamily="49" charset="-120"/>
              </a:rPr>
              <a:t>: 1.5rem;</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FFB86B"/>
                </a:solidFill>
                <a:latin typeface="JetBrains Mono" pitchFamily="49" charset="0"/>
                <a:ea typeface="JetBrains Mono" pitchFamily="49" charset="-122"/>
                <a:cs typeface="JetBrains Mono" pitchFamily="49" charset="-120"/>
              </a:rPr>
              <a:t>.card</a:t>
            </a:r>
            <a:r>
              <a:rPr lang="en-US" sz="1300" dirty="0">
                <a:solidFill>
                  <a:srgbClr val="E8E6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display</a:t>
            </a:r>
            <a:r>
              <a:rPr lang="en-US" sz="1300" dirty="0">
                <a:solidFill>
                  <a:srgbClr val="E8E6F0"/>
                </a:solidFill>
                <a:latin typeface="JetBrains Mono" pitchFamily="49" charset="0"/>
                <a:ea typeface="JetBrains Mono" pitchFamily="49" charset="-122"/>
                <a:cs typeface="JetBrains Mono" pitchFamily="49" charset="-120"/>
              </a:rPr>
              <a:t>: grid;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grid-row</a:t>
            </a:r>
            <a:r>
              <a:rPr lang="en-US" sz="1300" dirty="0">
                <a:solidFill>
                  <a:srgbClr val="E8E6F0"/>
                </a:solidFill>
                <a:latin typeface="JetBrains Mono" pitchFamily="49" charset="0"/>
                <a:ea typeface="JetBrains Mono" pitchFamily="49" charset="-122"/>
                <a:cs typeface="JetBrains Mono" pitchFamily="49" charset="-120"/>
              </a:rPr>
              <a:t>: span 3;</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  </a:t>
            </a:r>
            <a:r>
              <a:rPr lang="en-US" sz="1300" dirty="0">
                <a:solidFill>
                  <a:srgbClr val="B3A8FF"/>
                </a:solidFill>
                <a:latin typeface="JetBrains Mono" pitchFamily="49" charset="0"/>
                <a:ea typeface="JetBrains Mono" pitchFamily="49" charset="-122"/>
                <a:cs typeface="JetBrains Mono" pitchFamily="49" charset="-120"/>
              </a:rPr>
              <a:t>grid-template-rows</a:t>
            </a:r>
            <a:r>
              <a:rPr lang="en-US" sz="1300" dirty="0">
                <a:solidFill>
                  <a:srgbClr val="E8E6F0"/>
                </a:solidFill>
                <a:latin typeface="JetBrains Mono" pitchFamily="49" charset="0"/>
                <a:ea typeface="JetBrains Mono" pitchFamily="49" charset="-122"/>
                <a:cs typeface="JetBrains Mono" pitchFamily="49" charset="-120"/>
              </a:rPr>
              <a:t>: subgrid;</a:t>
            </a:r>
            <a:endParaRPr lang="en-US" sz="1300" dirty="0"/>
          </a:p>
          <a:p>
            <a:pPr algn="l" indent="0" marL="0">
              <a:lnSpc>
                <a:spcPts val="1950"/>
              </a:lnSpc>
              <a:buNone/>
            </a:pPr>
            <a:r>
              <a:rPr lang="en-US" sz="1300" dirty="0">
                <a:solidFill>
                  <a:srgbClr val="E8E6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8F8BA6"/>
                </a:solidFill>
                <a:latin typeface="JetBrains Mono" pitchFamily="49" charset="0"/>
                <a:ea typeface="JetBrains Mono" pitchFamily="49" charset="-122"/>
                <a:cs typeface="JetBrains Mono" pitchFamily="49" charset="-120"/>
              </a:rPr>
              <a:t>/* title, body and button align across cards */</a:t>
            </a:r>
            <a:endParaRPr lang="en-US" sz="1300" dirty="0"/>
          </a:p>
        </p:txBody>
      </p:sp>
      <p:sp>
        <p:nvSpPr>
          <p:cNvPr id="10" name="Text 8"/>
          <p:cNvSpPr/>
          <p:nvPr/>
        </p:nvSpPr>
        <p:spPr>
          <a:xfrm>
            <a:off x="812800" y="6238280"/>
            <a:ext cx="2667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10 Grid &amp; subgrid</a:t>
            </a:r>
            <a:endParaRPr lang="en-US" sz="1200" dirty="0"/>
          </a:p>
        </p:txBody>
      </p:sp>
      <p:sp>
        <p:nvSpPr>
          <p:cNvPr id="11" name="Text 9"/>
          <p:cNvSpPr/>
          <p:nvPr/>
        </p:nvSpPr>
        <p:spPr>
          <a:xfrm>
            <a:off x="10773886" y="6238280"/>
            <a:ext cx="60531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33 / 36</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1C1A29"/>
                </a:solidFill>
                <a:latin typeface="Space Grotesk" pitchFamily="34" charset="0"/>
                <a:ea typeface="Space Grotesk" pitchFamily="34" charset="-122"/>
                <a:cs typeface="Space Grotesk" pitchFamily="34" charset="-120"/>
              </a:rPr>
              <a:t>Recap: ten features, ten things to delete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3951982"/>
        </p:xfrm>
        <a:graphic>
          <a:graphicData uri="http://schemas.openxmlformats.org/drawingml/2006/table">
            <a:tbl>
              <a:tblPr/>
              <a:tblGrid>
                <a:gridCol w="3799332"/>
                <a:gridCol w="4221480"/>
                <a:gridCol w="2532888"/>
              </a:tblGrid>
              <a:tr h="359271">
                <a:tc>
                  <a:txBody>
                    <a:bodyPr/>
                    <a:lstStyle/>
                    <a:p>
                      <a:pPr indent="0" marL="0">
                        <a:lnSpc>
                          <a:spcPts val="1820"/>
                        </a:lnSpc>
                        <a:buNone/>
                      </a:pPr>
                      <a:r>
                        <a:rPr lang="en-US" sz="1300" b="1" dirty="0">
                          <a:solidFill>
                            <a:srgbClr val="1C1A29"/>
                          </a:solidFill>
                          <a:latin typeface="Space Grotesk" pitchFamily="34" charset="0"/>
                          <a:ea typeface="Space Grotesk" pitchFamily="34" charset="-122"/>
                          <a:cs typeface="Space Grotesk" pitchFamily="34" charset="-120"/>
                        </a:rPr>
                        <a:t>Feature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1820"/>
                        </a:lnSpc>
                        <a:buNone/>
                      </a:pPr>
                      <a:r>
                        <a:rPr lang="en-US" sz="1300" b="1" dirty="0">
                          <a:solidFill>
                            <a:srgbClr val="1C1A29"/>
                          </a:solidFill>
                          <a:latin typeface="Space Grotesk" pitchFamily="34" charset="0"/>
                          <a:ea typeface="Space Grotesk" pitchFamily="34" charset="-122"/>
                          <a:cs typeface="Space Grotesk" pitchFamily="34" charset="-120"/>
                        </a:rPr>
                        <a:t>What it replaces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c>
                  <a:txBody>
                    <a:bodyPr/>
                    <a:lstStyle/>
                    <a:p>
                      <a:pPr indent="0" marL="0">
                        <a:lnSpc>
                          <a:spcPts val="1820"/>
                        </a:lnSpc>
                        <a:buNone/>
                      </a:pPr>
                      <a:r>
                        <a:rPr lang="en-US" sz="1300" b="1" dirty="0">
                          <a:solidFill>
                            <a:srgbClr val="1C1A29"/>
                          </a:solidFill>
                          <a:latin typeface="Space Grotesk" pitchFamily="34" charset="0"/>
                          <a:ea typeface="Space Grotesk" pitchFamily="34" charset="-122"/>
                          <a:cs typeface="Space Grotesk" pitchFamily="34" charset="-120"/>
                        </a:rPr>
                        <a:t>Baseline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BCB9B0"/>
                      </a:solidFill>
                      <a:prstDash val="solid"/>
                      <a:round/>
                      <a:headEnd type="none" w="med" len="med"/>
                      <a:tailEnd type="none" w="med" len="med"/>
                    </a:lnL>
                    <a:lnR w="12700" cap="flat" cmpd="sng" algn="ctr">
                      <a:solidFill>
                        <a:srgbClr val="BCB9B0"/>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CB9B0"/>
                      </a:solidFill>
                      <a:prstDash val="solid"/>
                      <a:round/>
                      <a:headEnd type="none" w="med" len="med"/>
                      <a:tailEnd type="none" w="med" len="med"/>
                    </a:lnB>
                    <a:solidFill>
                      <a:srgbClr val="ECE7DC"/>
                    </a:solidFill>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Custom properties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Preprocessor variables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CB9B0"/>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Nesting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Sass nesting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progress()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Resize listeners, clamp() math</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Newly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:has()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JS class toggling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Anchor positioning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Floating UI, Popper.js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Newly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@scope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BEM, CSS-in-JS scoping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Newly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oklch, color-mix, light-dark</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Sass color functions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 newly</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field-sizing</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Autosize scripts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[check support]</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Container queries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Media queries for components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Grid &amp; subgrid</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Fixed heights, flex hacks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1820"/>
                        </a:lnSpc>
                        <a:buNone/>
                      </a:pPr>
                      <a:r>
                        <a:rPr lang="en-US" sz="1300" dirty="0">
                          <a:solidFill>
                            <a:srgbClr val="1C1A29"/>
                          </a:solidFill>
                          <a:latin typeface="Space Grotesk" pitchFamily="34" charset="0"/>
                          <a:ea typeface="Space Grotesk" pitchFamily="34" charset="-122"/>
                          <a:cs typeface="Space Grotesk" pitchFamily="34" charset="-120"/>
                        </a:rPr>
                        <a:t>Widely available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bl>
          </a:graphicData>
        </a:graphic>
      </p:graphicFrame>
      <p:sp>
        <p:nvSpPr>
          <p:cNvPr id="4" name="Text 1"/>
          <p:cNvSpPr/>
          <p:nvPr/>
        </p:nvSpPr>
        <p:spPr>
          <a:xfrm>
            <a:off x="812800" y="6238280"/>
            <a:ext cx="17509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Modern CSS · Recap</a:t>
            </a:r>
            <a:endParaRPr lang="en-US" sz="1200" dirty="0"/>
          </a:p>
        </p:txBody>
      </p:sp>
      <p:sp>
        <p:nvSpPr>
          <p:cNvPr id="5" name="Text 2"/>
          <p:cNvSpPr/>
          <p:nvPr/>
        </p:nvSpPr>
        <p:spPr>
          <a:xfrm>
            <a:off x="10770195" y="6238280"/>
            <a:ext cx="6090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5A6E"/>
                </a:solidFill>
                <a:latin typeface="Space Grotesk" pitchFamily="34" charset="0"/>
                <a:ea typeface="Space Grotesk" pitchFamily="34" charset="-122"/>
                <a:cs typeface="Space Grotesk" pitchFamily="34" charset="-120"/>
              </a:rPr>
              <a:t>34 / 36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2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spc="-50" kern="0" dirty="0">
                <a:solidFill>
                  <a:srgbClr val="ECE9F5"/>
                </a:solidFill>
                <a:latin typeface="Space Grotesk" pitchFamily="34" charset="0"/>
                <a:ea typeface="Space Grotesk" pitchFamily="34" charset="-122"/>
                <a:cs typeface="Space Grotesk" pitchFamily="34" charset="-120"/>
              </a:rPr>
              <a:t>Keep learning</a:t>
            </a:r>
            <a:endParaRPr lang="en-US" sz="3200" dirty="0"/>
          </a:p>
        </p:txBody>
      </p:sp>
      <p:sp>
        <p:nvSpPr>
          <p:cNvPr id="3" name="Shape 1"/>
          <p:cNvSpPr/>
          <p:nvPr/>
        </p:nvSpPr>
        <p:spPr>
          <a:xfrm>
            <a:off x="812800" y="1635720"/>
            <a:ext cx="5181600" cy="1056481"/>
          </a:xfrm>
          <a:prstGeom prst="roundRect">
            <a:avLst>
              <a:gd name="adj" fmla="val 12021"/>
            </a:avLst>
          </a:prstGeom>
          <a:solidFill>
            <a:srgbClr val="24213A"/>
          </a:solidFill>
          <a:ln/>
        </p:spPr>
      </p:sp>
      <p:sp>
        <p:nvSpPr>
          <p:cNvPr id="4" name="Text 2"/>
          <p:cNvSpPr/>
          <p:nvPr/>
        </p:nvSpPr>
        <p:spPr>
          <a:xfrm>
            <a:off x="1066800" y="1864320"/>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u="sng" dirty="0">
                <a:solidFill>
                  <a:srgbClr val="ECE9F5"/>
                </a:solidFill>
                <a:latin typeface="Space Grotesk" pitchFamily="34" charset="0"/>
                <a:ea typeface="Space Grotesk" pitchFamily="34" charset="-122"/>
                <a:cs typeface="Space Grotesk" pitchFamily="34" charset="-120"/>
                <a:hlinkClick r:id="rId1" invalidUrl="" action="" tgtFrame="" tooltip="" history="1" highlightClick="0" endSnd="0">
                  <a:extLst>
                    <a:ext uri="{A12FA001-AC4F-418D-AE19-62706E023703}">
                      <ahyp:hlinkClr xmlns:ahyp="http://schemas.microsoft.com/office/drawing/2018/hyperlinkcolor" val="tx"/>
                    </a:ext>
                  </a:extLst>
                </a:hlinkClick>
              </a:rPr>
              <a:t>MDN Web Docs</a:t>
            </a:r>
            <a:endParaRPr lang="en-US" sz="1800" dirty="0"/>
          </a:p>
        </p:txBody>
      </p:sp>
      <p:sp>
        <p:nvSpPr>
          <p:cNvPr id="5" name="Text 3"/>
          <p:cNvSpPr/>
          <p:nvPr/>
        </p:nvSpPr>
        <p:spPr>
          <a:xfrm>
            <a:off x="1066800" y="221476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4CC"/>
                </a:solidFill>
                <a:latin typeface="Space Grotesk" pitchFamily="34" charset="0"/>
                <a:ea typeface="Space Grotesk" pitchFamily="34" charset="-122"/>
                <a:cs typeface="Space Grotesk" pitchFamily="34" charset="-120"/>
              </a:rPr>
              <a:t>Reference and examples for every feature</a:t>
            </a:r>
            <a:endParaRPr lang="en-US" sz="1400" dirty="0"/>
          </a:p>
        </p:txBody>
      </p:sp>
      <p:sp>
        <p:nvSpPr>
          <p:cNvPr id="6" name="Shape 4"/>
          <p:cNvSpPr/>
          <p:nvPr/>
        </p:nvSpPr>
        <p:spPr>
          <a:xfrm>
            <a:off x="6197600" y="1635720"/>
            <a:ext cx="5181600" cy="1056481"/>
          </a:xfrm>
          <a:prstGeom prst="roundRect">
            <a:avLst>
              <a:gd name="adj" fmla="val 12021"/>
            </a:avLst>
          </a:prstGeom>
          <a:solidFill>
            <a:srgbClr val="24213A"/>
          </a:solidFill>
          <a:ln/>
        </p:spPr>
      </p:sp>
      <p:sp>
        <p:nvSpPr>
          <p:cNvPr id="7" name="Text 5"/>
          <p:cNvSpPr/>
          <p:nvPr/>
        </p:nvSpPr>
        <p:spPr>
          <a:xfrm>
            <a:off x="6451600" y="1864320"/>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u="sng" dirty="0">
                <a:solidFill>
                  <a:srgbClr val="ECE9F5"/>
                </a:solidFill>
                <a:latin typeface="Space Grotesk" pitchFamily="34" charset="0"/>
                <a:ea typeface="Space Grotesk" pitchFamily="34" charset="-122"/>
                <a:cs typeface="Space Grotesk" pitchFamily="34" charset="-120"/>
                <a:hlinkClick r:id="rId2" invalidUrl="" action="" tgtFrame="" tooltip="" history="1" highlightClick="0" endSnd="0">
                  <a:extLst>
                    <a:ext uri="{A12FA001-AC4F-418D-AE19-62706E023703}">
                      <ahyp:hlinkClr xmlns:ahyp="http://schemas.microsoft.com/office/drawing/2018/hyperlinkcolor" val="tx"/>
                    </a:ext>
                  </a:extLst>
                </a:hlinkClick>
              </a:rPr>
              <a:t>web.dev/baseline</a:t>
            </a:r>
            <a:endParaRPr lang="en-US" sz="1800" dirty="0"/>
          </a:p>
        </p:txBody>
      </p:sp>
      <p:sp>
        <p:nvSpPr>
          <p:cNvPr id="8" name="Text 6"/>
          <p:cNvSpPr/>
          <p:nvPr/>
        </p:nvSpPr>
        <p:spPr>
          <a:xfrm>
            <a:off x="6451600" y="221476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4CC"/>
                </a:solidFill>
                <a:latin typeface="Space Grotesk" pitchFamily="34" charset="0"/>
                <a:ea typeface="Space Grotesk" pitchFamily="34" charset="-122"/>
                <a:cs typeface="Space Grotesk" pitchFamily="34" charset="-120"/>
              </a:rPr>
              <a:t>What's safe to use across browsers</a:t>
            </a:r>
            <a:endParaRPr lang="en-US" sz="1400" dirty="0"/>
          </a:p>
        </p:txBody>
      </p:sp>
      <p:sp>
        <p:nvSpPr>
          <p:cNvPr id="9" name="Shape 7"/>
          <p:cNvSpPr/>
          <p:nvPr/>
        </p:nvSpPr>
        <p:spPr>
          <a:xfrm>
            <a:off x="812800" y="2895402"/>
            <a:ext cx="5181600" cy="1056481"/>
          </a:xfrm>
          <a:prstGeom prst="roundRect">
            <a:avLst>
              <a:gd name="adj" fmla="val 12021"/>
            </a:avLst>
          </a:prstGeom>
          <a:solidFill>
            <a:srgbClr val="24213A"/>
          </a:solidFill>
          <a:ln/>
        </p:spPr>
      </p:sp>
      <p:sp>
        <p:nvSpPr>
          <p:cNvPr id="10" name="Text 8"/>
          <p:cNvSpPr/>
          <p:nvPr/>
        </p:nvSpPr>
        <p:spPr>
          <a:xfrm>
            <a:off x="1066800" y="312400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u="sng" dirty="0">
                <a:solidFill>
                  <a:srgbClr val="ECE9F5"/>
                </a:solidFill>
                <a:latin typeface="Space Grotesk" pitchFamily="34" charset="0"/>
                <a:ea typeface="Space Grotesk" pitchFamily="34" charset="-122"/>
                <a:cs typeface="Space Grotesk"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Can I use</a:t>
            </a:r>
            <a:endParaRPr lang="en-US" sz="1800" dirty="0"/>
          </a:p>
        </p:txBody>
      </p:sp>
      <p:sp>
        <p:nvSpPr>
          <p:cNvPr id="11" name="Text 9"/>
          <p:cNvSpPr/>
          <p:nvPr/>
        </p:nvSpPr>
        <p:spPr>
          <a:xfrm>
            <a:off x="1066800" y="347444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4CC"/>
                </a:solidFill>
                <a:latin typeface="Space Grotesk" pitchFamily="34" charset="0"/>
                <a:ea typeface="Space Grotesk" pitchFamily="34" charset="-122"/>
                <a:cs typeface="Space Grotesk" pitchFamily="34" charset="-120"/>
              </a:rPr>
              <a:t>Detailed support tables per browser version</a:t>
            </a:r>
            <a:endParaRPr lang="en-US" sz="1400" dirty="0"/>
          </a:p>
        </p:txBody>
      </p:sp>
      <p:sp>
        <p:nvSpPr>
          <p:cNvPr id="12" name="Shape 10"/>
          <p:cNvSpPr/>
          <p:nvPr/>
        </p:nvSpPr>
        <p:spPr>
          <a:xfrm>
            <a:off x="6197600" y="2895402"/>
            <a:ext cx="5181600" cy="1056481"/>
          </a:xfrm>
          <a:prstGeom prst="roundRect">
            <a:avLst>
              <a:gd name="adj" fmla="val 12021"/>
            </a:avLst>
          </a:prstGeom>
          <a:solidFill>
            <a:srgbClr val="24213A"/>
          </a:solidFill>
          <a:ln/>
        </p:spPr>
      </p:sp>
      <p:sp>
        <p:nvSpPr>
          <p:cNvPr id="13" name="Text 11"/>
          <p:cNvSpPr/>
          <p:nvPr/>
        </p:nvSpPr>
        <p:spPr>
          <a:xfrm>
            <a:off x="6451600" y="312400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u="sng" dirty="0">
                <a:solidFill>
                  <a:srgbClr val="ECE9F5"/>
                </a:solidFill>
                <a:latin typeface="Space Grotesk" pitchFamily="34" charset="0"/>
                <a:ea typeface="Space Grotesk" pitchFamily="34" charset="-122"/>
                <a:cs typeface="Space Grotesk"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Web features explorer</a:t>
            </a:r>
            <a:endParaRPr lang="en-US" sz="1800" dirty="0"/>
          </a:p>
        </p:txBody>
      </p:sp>
      <p:sp>
        <p:nvSpPr>
          <p:cNvPr id="14" name="Text 12"/>
          <p:cNvSpPr/>
          <p:nvPr/>
        </p:nvSpPr>
        <p:spPr>
          <a:xfrm>
            <a:off x="6451600" y="3474442"/>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4CC"/>
                </a:solidFill>
                <a:latin typeface="Space Grotesk" pitchFamily="34" charset="0"/>
                <a:ea typeface="Space Grotesk" pitchFamily="34" charset="-122"/>
                <a:cs typeface="Space Grotesk" pitchFamily="34" charset="-120"/>
              </a:rPr>
              <a:t>Baseline status per feature</a:t>
            </a:r>
            <a:endParaRPr lang="en-US" sz="1400" dirty="0"/>
          </a:p>
        </p:txBody>
      </p:sp>
      <p:sp>
        <p:nvSpPr>
          <p:cNvPr id="15" name="Text 13"/>
          <p:cNvSpPr/>
          <p:nvPr/>
        </p:nvSpPr>
        <p:spPr>
          <a:xfrm>
            <a:off x="812800" y="6238280"/>
            <a:ext cx="21195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Modern CSS · Resources</a:t>
            </a:r>
            <a:endParaRPr lang="en-US" sz="1200" dirty="0"/>
          </a:p>
        </p:txBody>
      </p:sp>
      <p:sp>
        <p:nvSpPr>
          <p:cNvPr id="16" name="Text 14"/>
          <p:cNvSpPr/>
          <p:nvPr/>
        </p:nvSpPr>
        <p:spPr>
          <a:xfrm>
            <a:off x="10774958" y="6238280"/>
            <a:ext cx="60424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8BA6"/>
                </a:solidFill>
                <a:latin typeface="Space Grotesk" pitchFamily="34" charset="0"/>
                <a:ea typeface="Space Grotesk" pitchFamily="34" charset="-122"/>
                <a:cs typeface="Space Grotesk" pitchFamily="34" charset="-120"/>
              </a:rPr>
              <a:t>35 / 36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21F"/>
        </a:solidFill>
      </p:bgPr>
    </p:bg>
    <p:spTree>
      <p:nvGrpSpPr>
        <p:cNvPr id="1" name=""/>
        <p:cNvGrpSpPr/>
        <p:nvPr/>
      </p:nvGrpSpPr>
      <p:grpSpPr>
        <a:xfrm>
          <a:off x="0" y="0"/>
          <a:ext cx="0" cy="0"/>
          <a:chOff x="0" y="0"/>
          <a:chExt cx="0" cy="0"/>
        </a:xfrm>
      </p:grpSpPr>
      <p:sp>
        <p:nvSpPr>
          <p:cNvPr id="2" name="Shape 0"/>
          <p:cNvSpPr/>
          <p:nvPr/>
        </p:nvSpPr>
        <p:spPr>
          <a:xfrm>
            <a:off x="6299200" y="609600"/>
            <a:ext cx="5080000" cy="5080000"/>
          </a:xfrm>
          <a:prstGeom prst="roundRect">
            <a:avLst>
              <a:gd name="adj" fmla="val 32000"/>
            </a:avLst>
          </a:prstGeom>
          <a:gradFill rotWithShape="1">
            <a:gsLst>
              <a:gs pos="0">
                <a:srgbClr val="FF9A3C">
                  <a:alpha val="70000"/>
                </a:srgbClr>
              </a:gs>
              <a:gs pos="45000">
                <a:srgbClr val="5B4CF0">
                  <a:alpha val="70000"/>
                </a:srgbClr>
              </a:gs>
              <a:gs pos="72000">
                <a:srgbClr val="14121F">
                  <a:alpha val="70000"/>
                </a:srgbClr>
              </a:gs>
            </a:gsLst>
            <a:path path="circle">
              <a:fillToRect l="60000" t="40000" r="40000" b="60000"/>
            </a:path>
          </a:gradFill>
          <a:ln/>
        </p:spPr>
      </p:sp>
      <p:sp>
        <p:nvSpPr>
          <p:cNvPr id="3" name="Text 1"/>
          <p:cNvSpPr/>
          <p:nvPr/>
        </p:nvSpPr>
        <p:spPr>
          <a:xfrm>
            <a:off x="812800" y="367159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B86B"/>
                </a:solidFill>
                <a:latin typeface="JetBrains Mono" pitchFamily="49" charset="0"/>
                <a:ea typeface="JetBrains Mono" pitchFamily="49" charset="-122"/>
                <a:cs typeface="JetBrains Mono" pitchFamily="49" charset="-120"/>
              </a:rPr>
              <a:t>} /* end @layer future */</a:t>
            </a:r>
            <a:endParaRPr lang="en-US" sz="1600" dirty="0"/>
          </a:p>
        </p:txBody>
      </p:sp>
      <p:sp>
        <p:nvSpPr>
          <p:cNvPr id="4" name="Text 2"/>
          <p:cNvSpPr/>
          <p:nvPr>
            <p:ph type="title"/>
          </p:nvPr>
        </p:nvSpPr>
        <p:spPr>
          <a:xfrm>
            <a:off x="812800" y="4159250"/>
            <a:ext cx="10883392" cy="1352550"/>
          </a:xfrm>
          <a:prstGeom prst="rect">
            <a:avLst/>
          </a:prstGeom>
          <a:noFill/>
          <a:ln/>
        </p:spPr>
        <p:txBody>
          <a:bodyPr wrap="square" lIns="0" tIns="0" rIns="0" bIns="0" rtlCol="0" anchor="t">
            <a:normAutofit/>
          </a:bodyPr>
          <a:lstStyle/>
          <a:p>
            <a:pPr algn="l" indent="0" marL="0">
              <a:lnSpc>
                <a:spcPts val="10450"/>
              </a:lnSpc>
              <a:buNone/>
            </a:pPr>
            <a:r>
              <a:rPr lang="en-US" sz="11000" b="1" i="0" spc="-300" kern="0" dirty="0">
                <a:solidFill>
                  <a:srgbClr val="ECE9F5"/>
                </a:solidFill>
                <a:latin typeface="Space Grotesk" pitchFamily="34" charset="0"/>
                <a:ea typeface="Space Grotesk" pitchFamily="34" charset="-122"/>
                <a:cs typeface="Space Grotesk" pitchFamily="34" charset="-120"/>
              </a:rPr>
              <a:t>Questions?</a:t>
            </a:r>
            <a:endParaRPr lang="en-US" sz="11000" dirty="0"/>
          </a:p>
        </p:txBody>
      </p:sp>
      <p:sp>
        <p:nvSpPr>
          <p:cNvPr id="5" name="Text 3"/>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B4CC"/>
                </a:solidFill>
                <a:latin typeface="Space Grotesk" pitchFamily="34" charset="0"/>
                <a:ea typeface="Space Grotesk" pitchFamily="34" charset="-122"/>
                <a:cs typeface="Space Grotesk" pitchFamily="34" charset="-120"/>
              </a:rPr>
              <a:t>Thank you · Slack: @Marc Garcia i Mullon</a:t>
            </a:r>
            <a:endParaRPr lang="en-US" sz="2000" dirty="0"/>
          </a:p>
        </p:txBody>
      </p:sp>
    </p:spTree>
  </p:cSld>
  <p:clrMapOvr>
    <a:masterClrMapping/>
  </p:clrMapOvr>
</p:sld>
</file>

<file path=ppt/theme/theme1.xml><?xml version="1.0" encoding="utf-8"?>
<a:theme xmlns:a="http://schemas.openxmlformats.org/drawingml/2006/main" name="Modern CSS">
  <a:themeElements>
    <a:clrScheme name="Modern CSS">
      <a:dk1>
        <a:srgbClr val="1C1A29"/>
      </a:dk1>
      <a:lt1>
        <a:srgbClr val="F5F2EC"/>
      </a:lt1>
      <a:dk2>
        <a:srgbClr val="52505A"/>
      </a:dk2>
      <a:lt2>
        <a:srgbClr val="DFDCD9"/>
      </a:lt2>
      <a:accent1>
        <a:srgbClr val="FF9A3C"/>
      </a:accent1>
      <a:accent2>
        <a:srgbClr val="5B4CF0"/>
      </a:accent2>
      <a:accent3>
        <a:srgbClr val="FFB86B"/>
      </a:accent3>
      <a:accent4>
        <a:srgbClr val="A8480A"/>
      </a:accent4>
      <a:accent5>
        <a:srgbClr val="3A3750"/>
      </a:accent5>
      <a:accent6>
        <a:srgbClr val="5D5A6E"/>
      </a:accent6>
      <a:hlink>
        <a:srgbClr val="0563C1"/>
      </a:hlink>
      <a:folHlink>
        <a:srgbClr val="954F72"/>
      </a:folHlink>
    </a:clrScheme>
    <a:fontScheme name="Modern CS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CSS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2026-10-28T07:58:33Z</dcterms:created>
  <dcterms:modified xsi:type="dcterms:W3CDTF">2026-10-28T07:58:33Z</dcterms:modified>
</cp:coreProperties>
</file>